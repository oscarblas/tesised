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PONTIFICIA UNIVERSIDAD CATÓLICA DEL PERÚ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FACULTAD DE CIENCIAS E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</a:rPr>
              <a:t>DISEÑO DEL CONTROL DE NIVEL PARA UN SISTEMA DE CUATRO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</a:rPr>
              <a:t>TANQUES ACOPLADOS MEDIANTE CONTROL PREDICTIVO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333333"/>
                </a:solidFill>
              </a:rPr>
              <a:t>Trabajo de Tesis 2  —  Semestre 2026-1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Autor:  Edwin Jesús Davila Avalos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Asesor:  Juan Javier Sotomayor Moriano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</a:rPr>
              <a:t>Lima,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ÍNDICE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</a:rPr>
              <a:t>Capítulo 1.  </a:t>
            </a:r>
            <a:r>
              <a:rPr sz="1400">
                <a:solidFill>
                  <a:srgbClr val="333333"/>
                </a:solidFill>
              </a:rPr>
              <a:t>Estudio del control de nivel en sistemas de tanques acoplados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</a:rPr>
              <a:t>Capítulo 2.  </a:t>
            </a:r>
            <a:r>
              <a:rPr sz="1400">
                <a:solidFill>
                  <a:srgbClr val="333333"/>
                </a:solidFill>
              </a:rPr>
              <a:t>Modelado del sistema y fundamentos del Control Predictivo GPC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</a:rPr>
              <a:t>Capítulo 3.  </a:t>
            </a:r>
            <a:r>
              <a:rPr sz="1400">
                <a:solidFill>
                  <a:srgbClr val="333333"/>
                </a:solidFill>
              </a:rPr>
              <a:t>Diseño del controlador predictivo GPC MIMO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366"/>
                </a:solidFill>
              </a:rPr>
              <a:t>Capítulo 4.  </a:t>
            </a:r>
            <a:r>
              <a:rPr sz="1400">
                <a:solidFill>
                  <a:srgbClr val="333333"/>
                </a:solidFill>
              </a:rPr>
              <a:t>Análisis comparativo del GPC frente al PI con desacoplador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Conclusiones generales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Trabajo futuro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8620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Bibliografía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1.  Estudio del control de nivel en sistemas de tanques acoplados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1.1 Importancia y problemática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•  Control de nivel: una de las operaciones más recurrentes en la industria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•  Sectores: petroquímica, minería, alimentaria, farmacéutica, energética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•  Sistemas MIMO con acoplamiento ⇒ control SISO clásico es insuficiente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</a:rPr>
              <a:t>•  Limitaciones: no linealidades, restricciones físicas, perturbaciones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394960" cy="237744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Ejemplo industrial — control de pH en circuito de 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931920"/>
            <a:ext cx="5394960" cy="246888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Diagrama de sistema TITO con acoplamiento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1.  Estudio del control de nivel en sistemas de tanques acoplados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1.2 Sistema de cuatro tanques acoplados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57600" cy="274320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Esquema Johansson (1998)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97680"/>
            <a:ext cx="3657600" cy="201168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Planta piloto Lab. Control Avanzado PUCP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Fase del sistema según γ₁ + γ₂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758952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Fase MÍNIMA (P⁻):  1 &lt; γ₁+γ₂ &lt; 2</a:t>
            </a:r>
          </a:p>
          <a:p>
            <a:r>
              <a:rPr sz="1100">
                <a:solidFill>
                  <a:srgbClr val="333333"/>
                </a:solidFill>
              </a:rPr>
              <a:t>  ◦  Ceros en semiplano izquierdo  |  Comportamiento estable</a:t>
            </a:r>
          </a:p>
          <a:p>
            <a:r>
              <a:rPr sz="1100">
                <a:solidFill>
                  <a:srgbClr val="333333"/>
                </a:solidFill>
              </a:rPr>
              <a:t>  ◦  Caminos directos dominan  |  Control predictivo aplicable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971800"/>
            <a:ext cx="7589520" cy="914400"/>
          </a:xfrm>
          <a:prstGeom prst="roundRect">
            <a:avLst/>
          </a:prstGeom>
          <a:solidFill>
            <a:srgbClr val="FFEBEE"/>
          </a:solidFill>
          <a:ln>
            <a:solidFill>
              <a:srgbClr val="FF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Fase NO MÍNIMA (P⁺):  0 &lt; γ₁+γ₂ &lt; 1</a:t>
            </a:r>
          </a:p>
          <a:p>
            <a:r>
              <a:rPr sz="1100">
                <a:solidFill>
                  <a:srgbClr val="333333"/>
                </a:solidFill>
              </a:rPr>
              <a:t>  ◦  Cero en semiplano derecho  |  Respuesta inversa transitoria</a:t>
            </a:r>
          </a:p>
          <a:p>
            <a:r>
              <a:rPr sz="1100">
                <a:solidFill>
                  <a:srgbClr val="333333"/>
                </a:solidFill>
              </a:rPr>
              <a:t>  ◦  Limita el ancho de banda alcanzable por cualquier controlador lineal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023360"/>
            <a:ext cx="7589520" cy="237744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Comparación de la respuesta al escalón en fase mínima vs no mínima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1.  Estudio del control de nivel en sistemas de tanques acoplados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1.3 Estado del arte  |  1.5 Objetivos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Técnicas aplicadas en la literatura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Control clásico:  PID descentralizado, PI con desacoplador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Control avanzado:  fuzzy-PID, control adaptativo, robusto fraccional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Inteligencia artificial:  PI-NN, PID-NN con PSO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•  Control predictivo:  DMC, GPC, NMPC, DMPC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Objetivo general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48640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Diseñar un controlador GPC multivariable</a:t>
            </a:r>
          </a:p>
          <a:p>
            <a:r>
              <a:rPr sz="1100">
                <a:solidFill>
                  <a:srgbClr val="333333"/>
                </a:solidFill>
              </a:rPr>
              <a:t>  ◦  Regular niveles de los tanques inferiores</a:t>
            </a:r>
          </a:p>
          <a:p>
            <a:r>
              <a:rPr sz="1100">
                <a:solidFill>
                  <a:srgbClr val="333333"/>
                </a:solidFill>
              </a:rPr>
              <a:t>  ◦  Considerar acoplamientos, restricciones y perturbaciones</a:t>
            </a:r>
          </a:p>
          <a:p>
            <a:r>
              <a:rPr sz="1100">
                <a:solidFill>
                  <a:srgbClr val="333333"/>
                </a:solidFill>
              </a:rPr>
              <a:t>  ◦  Comparar con control PI clásico con desacoplador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Objetivos específicos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Caracterizar la dinámica MIMO del sistema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Obtener modelo linealizado en el punto de operación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Diseñar el algoritmo GPC con restricciones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Implementar en MATLAB/Simulink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•  Comparar GPC vs PI+Desacoplador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2.  Modelado del sistema y fundamentos del Control Predictivo GPC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2.1 Modelamiento del sistema de cuatro tanques acoplados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Modelo no lineal:  balance de masa + ley de Bernoulli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4 ecuaciones diferenciales acopladas con términos √h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Linealización en torno al punto de operación h₀ = (h₁⁰, h₂⁰, 25, 25)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Representación en espacio de estados  +  matriz de transferencia G(s)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554480"/>
            <a:ext cx="6035040" cy="246888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Esquema del sistema con γ₁, γ₂ y caminos directo/cruzado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4114800"/>
            <a:ext cx="603504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Ecuaciones no lineales del modelo (sistema de 4 EDOs)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2.  Modelado del sistema y fundamentos del Control Predictivo GPC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2.2 Control Predictivo Generalizado (GPC)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Tres pilares del GPC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3749039" cy="146304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1. Modelo de predicción</a:t>
            </a:r>
          </a:p>
          <a:p>
            <a:r>
              <a:rPr sz="1100">
                <a:solidFill>
                  <a:srgbClr val="333333"/>
                </a:solidFill>
              </a:rPr>
              <a:t>  ◦  Modelo CARIMA</a:t>
            </a:r>
          </a:p>
          <a:p>
            <a:r>
              <a:rPr sz="1100">
                <a:solidFill>
                  <a:srgbClr val="333333"/>
                </a:solidFill>
              </a:rPr>
              <a:t>  ◦  Polinomios A, B, C en z⁻¹</a:t>
            </a:r>
          </a:p>
          <a:p>
            <a:r>
              <a:rPr sz="1100">
                <a:solidFill>
                  <a:srgbClr val="333333"/>
                </a:solidFill>
              </a:rPr>
              <a:t>  ◦  Operador Δ = 1 − z⁻¹  →  acción integral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828800"/>
            <a:ext cx="3749039" cy="1463040"/>
          </a:xfrm>
          <a:prstGeom prst="round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2. Función de costo</a:t>
            </a:r>
          </a:p>
          <a:p>
            <a:r>
              <a:rPr sz="1100">
                <a:solidFill>
                  <a:srgbClr val="333333"/>
                </a:solidFill>
              </a:rPr>
              <a:t>  ◦  Cuadrática:  error² + esfuerzo²</a:t>
            </a:r>
          </a:p>
          <a:p>
            <a:r>
              <a:rPr sz="1100">
                <a:solidFill>
                  <a:srgbClr val="333333"/>
                </a:solidFill>
              </a:rPr>
              <a:t>  ◦  Pesos δ (seguimiento) y λ (control)</a:t>
            </a:r>
          </a:p>
          <a:p>
            <a:r>
              <a:rPr sz="1100">
                <a:solidFill>
                  <a:srgbClr val="333333"/>
                </a:solidFill>
              </a:rPr>
              <a:t>  ◦  Horizontes N₁, N₂, 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749039" cy="146304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3. Ley de control</a:t>
            </a:r>
          </a:p>
          <a:p>
            <a:r>
              <a:rPr sz="1100">
                <a:solidFill>
                  <a:srgbClr val="333333"/>
                </a:solidFill>
              </a:rPr>
              <a:t>  ◦  Solución óptima via QP</a:t>
            </a:r>
          </a:p>
          <a:p>
            <a:r>
              <a:rPr sz="1100">
                <a:solidFill>
                  <a:srgbClr val="333333"/>
                </a:solidFill>
              </a:rPr>
              <a:t>  ◦  Δu* = (GᵀQG + R)⁻¹ Gᵀ Q (W − F)</a:t>
            </a:r>
          </a:p>
          <a:p>
            <a:r>
              <a:rPr sz="1100">
                <a:solidFill>
                  <a:srgbClr val="333333"/>
                </a:solidFill>
              </a:rPr>
              <a:t>  ◦  Solo se aplica el primer Δu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566160"/>
            <a:ext cx="7772400" cy="274320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Estructura básica del MPC: predicción, optimización y horizonte deslizante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2.  Modelado del sistema y fundamentos del Control Predictivo GPC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2.3 GPC MIMO  |  2.4 Validación del modelo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GPC en sistemas multivariables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Extensión a polinomios matriciales A(z⁻¹), B(z⁻¹)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Matriz dinámica G por bloques  G_ij  (uno por par entrada-salida)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Función de costo con matrices Q y R bloque-diagonales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Misma estructura analítica que el caso SISO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1148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Validación del modelo: lineal vs no lineal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Comparación de respuesta al escalón sobre ambos modelos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Métrica FIT% para cuantificar la similitud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Validez confirmada en una vecindad del punto de operación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83080"/>
            <a:ext cx="5760720" cy="228600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Esquema GPC MIMO: matriz G por bloques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06240"/>
            <a:ext cx="5760720" cy="219456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Comparación lineal vs no lineal en operación normal — FIT &gt; 95%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3.  Diseño del controlador GPC para el sistema TITO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3.3.2 Selección del horizonte y tiempo de muestreo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Parámetros del MODELO (fijados a priori)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•  Constantes de tiempo dominantes:  τ_dom ≈ 30 s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•  Criterio:  T_s = min(0.1 · τ_ij)  →  sobre-muestreo por carácter MIMO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•  Criterio:  N · T_s ≥ 5 · τ_dom  para cubrir la dinámica completa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•  Estos parámetros NO se sintonizan: dependen del proceso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783080"/>
            <a:ext cx="4389120" cy="228600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Valores adoptados (Tabla 3.1)</a:t>
            </a:r>
          </a:p>
          <a:p>
            <a:r>
              <a:rPr sz="1100">
                <a:solidFill>
                  <a:srgbClr val="333333"/>
                </a:solidFill>
              </a:rPr>
              <a:t>  ◦  T_s = 1 s</a:t>
            </a:r>
          </a:p>
          <a:p>
            <a:r>
              <a:rPr sz="1100">
                <a:solidFill>
                  <a:srgbClr val="333333"/>
                </a:solidFill>
              </a:rPr>
              <a:t>  ◦  N   = 50</a:t>
            </a:r>
          </a:p>
          <a:p>
            <a:r>
              <a:rPr sz="1100">
                <a:solidFill>
                  <a:srgbClr val="333333"/>
                </a:solidFill>
              </a:rPr>
              <a:t>  ◦  N · T_s = 50 s (cubre &gt; 1.5 τ_dom)</a:t>
            </a:r>
          </a:p>
          <a:p>
            <a:r>
              <a:rPr sz="1100">
                <a:solidFill>
                  <a:srgbClr val="333333"/>
                </a:solidFill>
              </a:rPr>
              <a:t>  ◦  Coherente con Åström &amp; Wittenmark</a:t>
            </a:r>
          </a:p>
          <a:p>
            <a:r>
              <a:rPr sz="1100">
                <a:solidFill>
                  <a:srgbClr val="333333"/>
                </a:solidFill>
              </a:rPr>
              <a:t>  ◦  para sistemas MIMO ruidosos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97680"/>
            <a:ext cx="11430000" cy="219456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Coeficientes de respuesta al escalón g_ij[k] para los 4 subprocesos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3.  Diseño del controlador GPC para el sistema TITO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3.3.3 Matriz dinámica G  |  3.3.4 Respuesta libre 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669280" cy="256032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Matriz dinámica G</a:t>
            </a:r>
          </a:p>
          <a:p>
            <a:r>
              <a:rPr sz="1100">
                <a:solidFill>
                  <a:srgbClr val="333333"/>
                </a:solidFill>
              </a:rPr>
              <a:t>  ◦  Por bloques  G_ij  (uno por par entrada-salida)</a:t>
            </a:r>
          </a:p>
          <a:p>
            <a:r>
              <a:rPr sz="1100">
                <a:solidFill>
                  <a:srgbClr val="333333"/>
                </a:solidFill>
              </a:rPr>
              <a:t>  ◦  Cada G_ij es triangular inferior</a:t>
            </a:r>
          </a:p>
          <a:p>
            <a:r>
              <a:rPr sz="1100">
                <a:solidFill>
                  <a:srgbClr val="333333"/>
                </a:solidFill>
              </a:rPr>
              <a:t>  ◦  Coeficientes:  respuesta al escalón g_ij[k]</a:t>
            </a:r>
          </a:p>
          <a:p>
            <a:r>
              <a:rPr sz="1100">
                <a:solidFill>
                  <a:srgbClr val="333333"/>
                </a:solidFill>
              </a:rPr>
              <a:t>  ◦  Estructura: G = [G₁₁ G₁₂; G₂₁ G₂₂]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760720" cy="2560320"/>
          </a:xfrm>
          <a:prstGeom prst="round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Respuesta libre F</a:t>
            </a:r>
          </a:p>
          <a:p>
            <a:r>
              <a:rPr sz="1100">
                <a:solidFill>
                  <a:srgbClr val="333333"/>
                </a:solidFill>
              </a:rPr>
              <a:t>  ◦  Trayectoria con Δu = 0  (modelo libre)</a:t>
            </a:r>
          </a:p>
          <a:p>
            <a:r>
              <a:rPr sz="1100">
                <a:solidFill>
                  <a:srgbClr val="333333"/>
                </a:solidFill>
              </a:rPr>
              <a:t>  ◦  Propagación del modelo discreto con u(k−1) fijo</a:t>
            </a:r>
          </a:p>
          <a:p>
            <a:r>
              <a:rPr sz="1100">
                <a:solidFill>
                  <a:srgbClr val="333333"/>
                </a:solidFill>
              </a:rPr>
              <a:t>  ◦  Vector F apila las predicciones futuras</a:t>
            </a:r>
          </a:p>
          <a:p>
            <a:r>
              <a:rPr sz="1100">
                <a:solidFill>
                  <a:srgbClr val="333333"/>
                </a:solidFill>
              </a:rPr>
              <a:t>  ◦  Predicción total:  Ŷ = G · ΔU + 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97680"/>
            <a:ext cx="11430000" cy="219456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Estructura de la matriz G por bloques + diagrama de la predicción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3.  Diseño del controlador GPC para el sistema TITO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3.3.7 Tratamiento de restricciones (QP)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Tres tipos de restricciones físicas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 Sobre los incrementos:  Δu_min ≤ Δu(k+i) ≤ Δu_max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 Sobre los valores absolutos:  u_min ≤ u(k+i) ≤ u_max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 Sobre las salidas (opcional):  y_min ≤ y(k+i) ≤ y_max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657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Forma estándar QP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023360"/>
            <a:ext cx="731520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min  ½ ΔUᵀ H ΔU + fᵀ ΔU     s.a.    A_ineq · ΔU ≤ b_ineq</a:t>
            </a:r>
          </a:p>
          <a:p>
            <a:r>
              <a:rPr sz="1100">
                <a:solidFill>
                  <a:srgbClr val="333333"/>
                </a:solidFill>
              </a:rPr>
              <a:t>  ◦  H = 2 (GᵀQG + R)</a:t>
            </a:r>
          </a:p>
          <a:p>
            <a:r>
              <a:rPr sz="1100">
                <a:solidFill>
                  <a:srgbClr val="333333"/>
                </a:solidFill>
              </a:rPr>
              <a:t>  ◦  f = 2 GᵀQ (F − W)</a:t>
            </a:r>
          </a:p>
          <a:p>
            <a:r>
              <a:rPr sz="1100">
                <a:solidFill>
                  <a:srgbClr val="333333"/>
                </a:solidFill>
              </a:rPr>
              <a:t>  ◦  Resolución con quadprog (Algoritmo: active-set)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4023360" cy="457200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Diagrama de flujo del controlador GPC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3.  Diseño del controlador GPC para el sistema TITO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3.4 Sintonización del controlador GPC MIMO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Cuatro métodos comparados  (uno por familia)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5669280" cy="128016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1. Clarke-Mohtadi (1987)  —  Heurístico-analítico</a:t>
            </a:r>
          </a:p>
          <a:p>
            <a:r>
              <a:rPr sz="1100">
                <a:solidFill>
                  <a:srgbClr val="333333"/>
                </a:solidFill>
              </a:rPr>
              <a:t>  ◦  Reglas prácticas de los autores originales del GPC</a:t>
            </a:r>
          </a:p>
          <a:p>
            <a:r>
              <a:rPr sz="1100">
                <a:solidFill>
                  <a:srgbClr val="333333"/>
                </a:solidFill>
              </a:rPr>
              <a:t>  ◦  Nu pequeño (1-3), δ unitario, λ moderado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5669280" cy="1280160"/>
          </a:xfrm>
          <a:prstGeom prst="round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2. Shridhar-Cooper (1997)  —  Analítico explícito</a:t>
            </a:r>
          </a:p>
          <a:p>
            <a:r>
              <a:rPr sz="1100">
                <a:solidFill>
                  <a:srgbClr val="333333"/>
                </a:solidFill>
              </a:rPr>
              <a:t>  ◦  Aproximación FOPDT por par entrada-salida</a:t>
            </a:r>
          </a:p>
          <a:p>
            <a:r>
              <a:rPr sz="1100">
                <a:solidFill>
                  <a:srgbClr val="333333"/>
                </a:solidFill>
              </a:rPr>
              <a:t>  ◦  Fórmulas cerradas para Nu y 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83280"/>
            <a:ext cx="5669280" cy="128016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3. PSO  —  Metaheurístico global</a:t>
            </a:r>
          </a:p>
          <a:p>
            <a:r>
              <a:rPr sz="1100">
                <a:solidFill>
                  <a:srgbClr val="333333"/>
                </a:solidFill>
              </a:rPr>
              <a:t>  ◦  Optimización por enjambre de partículas</a:t>
            </a:r>
          </a:p>
          <a:p>
            <a:r>
              <a:rPr sz="1100">
                <a:solidFill>
                  <a:srgbClr val="333333"/>
                </a:solidFill>
              </a:rPr>
              <a:t>  ◦  Exploración global sobre [log₁₀(λ), Nu]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383280"/>
            <a:ext cx="5669280" cy="1280160"/>
          </a:xfrm>
          <a:prstGeom prst="roundRect">
            <a:avLst/>
          </a:prstGeom>
          <a:solidFill>
            <a:srgbClr val="FCE4EC"/>
          </a:solidFill>
          <a:ln>
            <a:solidFill>
              <a:srgbClr val="F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4. Nelder-Mead (fminsearch)  —  Numérico directo</a:t>
            </a:r>
          </a:p>
          <a:p>
            <a:r>
              <a:rPr sz="1100">
                <a:solidFill>
                  <a:srgbClr val="333333"/>
                </a:solidFill>
              </a:rPr>
              <a:t>  ◦  Búsqueda local sin gradiente</a:t>
            </a:r>
          </a:p>
          <a:p>
            <a:r>
              <a:rPr sz="1100">
                <a:solidFill>
                  <a:srgbClr val="333333"/>
                </a:solidFill>
              </a:rPr>
              <a:t>  ◦  Refina el óptimo entregado por PSO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9377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Comparación mediante score combinado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924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 6 métricas:  IAE, ISE, ITAE, t_est, sobrepico, esfuerzo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 Normalización min-max y suma ponderada  →  Score (menor = mejor)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</a:rPr>
              <a:t>•  Ts = 1 s  y  N = 50  permanecen fijos durante toda la sintonización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3.  Diseño del controlador GPC para el sistema TITO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3.4.6 Selección del método ganador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6583680" cy="493776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Gráfica de barras del score combinado por 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Parámetros finales del GPC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4754880" cy="219456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Sintonización ganadora</a:t>
            </a:r>
          </a:p>
          <a:p>
            <a:r>
              <a:rPr sz="1100">
                <a:solidFill>
                  <a:srgbClr val="333333"/>
                </a:solidFill>
              </a:rPr>
              <a:t>  ◦  T_s     =  1 s</a:t>
            </a:r>
          </a:p>
          <a:p>
            <a:r>
              <a:rPr sz="1100">
                <a:solidFill>
                  <a:srgbClr val="333333"/>
                </a:solidFill>
              </a:rPr>
              <a:t>  ◦  N       =  50</a:t>
            </a:r>
          </a:p>
          <a:p>
            <a:r>
              <a:rPr sz="1100">
                <a:solidFill>
                  <a:srgbClr val="333333"/>
                </a:solidFill>
              </a:rPr>
              <a:t>  ◦  N_u     =  5</a:t>
            </a:r>
          </a:p>
          <a:p>
            <a:r>
              <a:rPr sz="1100">
                <a:solidFill>
                  <a:srgbClr val="333333"/>
                </a:solidFill>
              </a:rPr>
              <a:t>  ◦  δ       =  [10, 10]</a:t>
            </a:r>
          </a:p>
          <a:p>
            <a:r>
              <a:rPr sz="1100">
                <a:solidFill>
                  <a:srgbClr val="333333"/>
                </a:solidFill>
              </a:rPr>
              <a:t>  ◦  λ       =  0.0077  (valor aproximado)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2062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Observaciones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5720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</a:rPr>
              <a:t>•  El método de optimización numérica ofrece el mejor compromiso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</a:rPr>
              <a:t>•  Nu = 5 reduce el sobreajuste sin sacrificar agilidad</a:t>
            </a:r>
          </a:p>
          <a:p>
            <a:pPr algn="l"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</a:rPr>
              <a:t>•  Parámetros aplicados al controlador final del Cap.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4.  Análisis comparativo del GPC frente al PI con desacoplador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4.1 Estrategia comparativa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Pregunta central del capítulo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11430000" cy="82296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¿En qué condiciones se justifica el GPC frente al PI clásico con desacoplador?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26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Controladores comparados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83280"/>
            <a:ext cx="5669280" cy="274320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GPC multivariable (Cap. 3)</a:t>
            </a:r>
          </a:p>
          <a:p>
            <a:r>
              <a:rPr sz="1100">
                <a:solidFill>
                  <a:srgbClr val="333333"/>
                </a:solidFill>
              </a:rPr>
              <a:t>  ◦  Modelo CARIMA matricial</a:t>
            </a:r>
          </a:p>
          <a:p>
            <a:r>
              <a:rPr sz="1100">
                <a:solidFill>
                  <a:srgbClr val="333333"/>
                </a:solidFill>
              </a:rPr>
              <a:t>  ◦  Resolución de QP cada T_s</a:t>
            </a:r>
          </a:p>
          <a:p>
            <a:r>
              <a:rPr sz="1100">
                <a:solidFill>
                  <a:srgbClr val="333333"/>
                </a:solidFill>
              </a:rPr>
              <a:t>  ◦  Predicción a N pasos con horizonte deslizante</a:t>
            </a:r>
          </a:p>
          <a:p>
            <a:r>
              <a:rPr sz="1100">
                <a:solidFill>
                  <a:srgbClr val="333333"/>
                </a:solidFill>
              </a:rPr>
              <a:t>  ◦  Restricciones explícitas en u y Δu</a:t>
            </a:r>
          </a:p>
          <a:p>
            <a:r>
              <a:rPr sz="1100">
                <a:solidFill>
                  <a:srgbClr val="333333"/>
                </a:solidFill>
              </a:rPr>
              <a:t>  ◦  Coordinación nativa de los dos lazos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383280"/>
            <a:ext cx="5760720" cy="2743200"/>
          </a:xfrm>
          <a:prstGeom prst="round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PI descentralizado + Desacoplador</a:t>
            </a:r>
          </a:p>
          <a:p>
            <a:r>
              <a:rPr sz="1100">
                <a:solidFill>
                  <a:srgbClr val="333333"/>
                </a:solidFill>
              </a:rPr>
              <a:t>  ◦  Pairing:  u₁ → h₄,  u₂ → h₃</a:t>
            </a:r>
          </a:p>
          <a:p>
            <a:r>
              <a:rPr sz="1100">
                <a:solidFill>
                  <a:srgbClr val="333333"/>
                </a:solidFill>
              </a:rPr>
              <a:t>  ◦  Sintonización IMC:  K_p = τ / (K · λ_imc)</a:t>
            </a:r>
          </a:p>
          <a:p>
            <a:r>
              <a:rPr sz="1100">
                <a:solidFill>
                  <a:srgbClr val="333333"/>
                </a:solidFill>
              </a:rPr>
              <a:t>  ◦  Anti-windup por saturación incremental</a:t>
            </a:r>
          </a:p>
          <a:p>
            <a:r>
              <a:rPr sz="1100">
                <a:solidFill>
                  <a:srgbClr val="333333"/>
                </a:solidFill>
              </a:rPr>
              <a:t>  ◦  Desacoplador estático Skogestad:  D = [1 −k₁₂; −k₂₁ 1]</a:t>
            </a:r>
          </a:p>
          <a:p>
            <a:r>
              <a:rPr sz="1100">
                <a:solidFill>
                  <a:srgbClr val="333333"/>
                </a:solidFill>
              </a:rPr>
              <a:t>  ◦  Cancela acople SOLO en estado estacionario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4.  Análisis comparativo del GPC frente al PI con desacoplador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4.3 Escenario integrado de simulación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Trayectoria de eventos sobre la planta NO LINEAL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5669280" cy="77724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t = 0  →  400 s  :  Arranque desde h =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697480"/>
            <a:ext cx="5669280" cy="77724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t = 400 s  :  Cambio SP h₃   25 → 30  cm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66160"/>
            <a:ext cx="5669280" cy="77724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t = 800 s  :  Cambio SP h₄   25 → 20 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434840"/>
            <a:ext cx="5669280" cy="777240"/>
          </a:xfrm>
          <a:prstGeom prst="round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t = 1100 s  :  Inyección de ruido gaussiano (σ = 0.3 cm)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03520"/>
            <a:ext cx="5669280" cy="777240"/>
          </a:xfrm>
          <a:prstGeom prst="roundRect">
            <a:avLst/>
          </a:prstGeom>
          <a:solidFill>
            <a:srgbClr val="FCE4EC"/>
          </a:solidFill>
          <a:ln>
            <a:solidFill>
              <a:srgbClr val="F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t = 1200 s  :  h₃ → 25  y  h₄ → 35  (lejos del punto)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5577840" cy="457200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Trayectoria de referencias h₃(t) y h₄(t)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4.  Análisis comparativo del GPC frente al PI con desacoplador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4.4 Resultados ante acoplamiento cruzado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7680960" cy="502920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Curvas comparativas h₃(t) y h₄(t) — GPC vs PI+Desacoplador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657600" cy="228600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GPC</a:t>
            </a:r>
          </a:p>
          <a:p>
            <a:r>
              <a:rPr sz="1100">
                <a:solidFill>
                  <a:srgbClr val="333333"/>
                </a:solidFill>
              </a:rPr>
              <a:t>  ◦  Anticipa el acople</a:t>
            </a:r>
          </a:p>
          <a:p>
            <a:r>
              <a:rPr sz="1100">
                <a:solidFill>
                  <a:srgbClr val="333333"/>
                </a:solidFill>
              </a:rPr>
              <a:t>  ◦  Coordina ambas bombas</a:t>
            </a:r>
          </a:p>
          <a:p>
            <a:r>
              <a:rPr sz="1100">
                <a:solidFill>
                  <a:srgbClr val="333333"/>
                </a:solidFill>
              </a:rPr>
              <a:t>  ◦  Interacción cruzada mínima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023360"/>
            <a:ext cx="3657600" cy="2286000"/>
          </a:xfrm>
          <a:prstGeom prst="round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PI + Desacoplador</a:t>
            </a:r>
          </a:p>
          <a:p>
            <a:r>
              <a:rPr sz="1100">
                <a:solidFill>
                  <a:srgbClr val="333333"/>
                </a:solidFill>
              </a:rPr>
              <a:t>  ◦  Desacopla solo en estacionario</a:t>
            </a:r>
          </a:p>
          <a:p>
            <a:r>
              <a:rPr sz="1100">
                <a:solidFill>
                  <a:srgbClr val="333333"/>
                </a:solidFill>
              </a:rPr>
              <a:t>  ◦  Perturbación visible en el otro lazo</a:t>
            </a:r>
          </a:p>
          <a:p>
            <a:r>
              <a:rPr sz="1100">
                <a:solidFill>
                  <a:srgbClr val="333333"/>
                </a:solidFill>
              </a:rPr>
              <a:t>  ◦  INT_ij claramente mayor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4.  Análisis comparativo del GPC frente al PI con desacoplador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4.5 Resultado clave  —  operación lejos del punto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914400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RESULTADO PRINCIPAL DE LA TESIS</a:t>
            </a:r>
          </a:p>
          <a:p>
            <a:r>
              <a:rPr sz="1100">
                <a:solidFill>
                  <a:srgbClr val="FFFFFF"/>
                </a:solidFill>
              </a:rPr>
              <a:t>  ◦  En t ≥ 1200 s, el PI con desacoplador NO alcanza h₄ = 35 cm; el GPC SÍ lo logra.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7315200" cy="384048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Detalle del tramo t ≥ 1200 s — h₄ vs referencia 35 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606040"/>
            <a:ext cx="4023360" cy="1828800"/>
          </a:xfrm>
          <a:prstGeom prst="round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¿Por qué falla el PI?</a:t>
            </a:r>
          </a:p>
          <a:p>
            <a:r>
              <a:rPr sz="1100">
                <a:solidFill>
                  <a:srgbClr val="333333"/>
                </a:solidFill>
              </a:rPr>
              <a:t>  ◦  IMC sintonizado en h₀ = 25</a:t>
            </a:r>
          </a:p>
          <a:p>
            <a:r>
              <a:rPr sz="1100">
                <a:solidFill>
                  <a:srgbClr val="333333"/>
                </a:solidFill>
              </a:rPr>
              <a:t>  ◦  τ depende de √h  →  cambia con h</a:t>
            </a:r>
          </a:p>
          <a:p>
            <a:r>
              <a:rPr sz="1100">
                <a:solidFill>
                  <a:srgbClr val="333333"/>
                </a:solidFill>
              </a:rPr>
              <a:t>  ◦  Desacoplador estático válido SOLO en h₀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572000"/>
            <a:ext cx="402336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 b="1">
                <a:solidFill>
                  <a:srgbClr val="333333"/>
                </a:solidFill>
              </a:rPr>
              <a:t>¿Por qué SÍ llega el GPC?</a:t>
            </a:r>
          </a:p>
          <a:p>
            <a:r>
              <a:rPr sz="1100">
                <a:solidFill>
                  <a:srgbClr val="333333"/>
                </a:solidFill>
              </a:rPr>
              <a:t>  ◦  Horizonte de predicción a N pasos</a:t>
            </a:r>
          </a:p>
          <a:p>
            <a:r>
              <a:rPr sz="1100">
                <a:solidFill>
                  <a:srgbClr val="333333"/>
                </a:solidFill>
              </a:rPr>
              <a:t>  ◦  Acción integral del CARIMA</a:t>
            </a:r>
          </a:p>
          <a:p>
            <a:r>
              <a:rPr sz="1100">
                <a:solidFill>
                  <a:srgbClr val="333333"/>
                </a:solidFill>
              </a:rPr>
              <a:t>  ◦  Coordinación coordinada de las bombas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4.  Análisis comparativo del GPC frente al PI con desacoplador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4.4 Métricas comparativas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Dos ventanas de evaluación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•  Métricas GLOBALES  →  toda la simulación (incluye arranque)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•  Métricas en OPERACIÓN NORMAL  →  a partir de t = 400 s</a:t>
            </a:r>
          </a:p>
          <a:p>
            <a:pPr algn="l">
              <a:spcAft>
                <a:spcPts val="300"/>
              </a:spcAft>
            </a:pPr>
            <a:r>
              <a:rPr sz="1300">
                <a:solidFill>
                  <a:srgbClr val="333333"/>
                </a:solidFill>
              </a:rPr>
              <a:t>•  Métrica adicional INT_ij  →  cuantifica acoplamiento cruzado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5669280" cy="310896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Tabla comparativa de métricas (IAE, ISE, ITAE, t_est, Mp, esfuerzo)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91840"/>
            <a:ext cx="5760720" cy="310896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Gráfico de barras: GPC vs PI+Desacoplador para cada métrica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4300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500" b="1">
                <a:solidFill>
                  <a:srgbClr val="003366"/>
                </a:solidFill>
              </a:rPr>
              <a:t>Capítulo 4.  Análisis comparativo del GPC frente al PI con desacoplador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333333"/>
                </a:solidFill>
              </a:rPr>
              <a:t>4.6 Implementación en Simulink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366"/>
                </a:solidFill>
              </a:rPr>
              <a:t>Verificación adicional sobre Simulink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Ambos controladores implementados como MATLAB Functions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Planta no lineal en un único bloque con realimentación por Unit Delay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Solver:  ode45 variable-step  (para preservar precisión MIMO)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333333"/>
                </a:solidFill>
              </a:rPr>
              <a:t>•  Resultados consistentes con los scripts de MATLAB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14800"/>
            <a:ext cx="6035040" cy="237744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Diagrama Simulink del PI + Desacoplador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83080"/>
            <a:ext cx="5303520" cy="4754880"/>
          </a:xfrm>
          <a:prstGeom prst="rect">
            <a:avLst/>
          </a:prstGeom>
          <a:solidFill>
            <a:srgbClr val="F0F0F0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(IMAGEN)</a:t>
            </a:r>
          </a:p>
          <a:p>
            <a:pPr algn="ctr"/>
            <a:r>
              <a:rPr sz="1000" i="1">
                <a:solidFill>
                  <a:srgbClr val="333333"/>
                </a:solidFill>
              </a:rPr>
              <a:t>Diagrama Simulink del GPC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</a:rPr>
              <a:t>•  Se diseñó un controlador GPC multivariable para el sistema TITO de cuatro tanques bajo formulación CARIMA + ecuaciones diofánticas.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</a:rPr>
              <a:t>•  Se compararon 4 métodos de sintonización (Clarke-Mohtadi, Shridhar-Cooper, PSO, Nelder-Mead) mediante un score combinado de seis métricas.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</a:rPr>
              <a:t>•  El GPC reduce significativamente el acoplamiento cruzado entre lazos respecto al PI con desacoplador (métrica INT_ij).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</a:rPr>
              <a:t>•  El PI con desacoplador falla en regiones alejadas del punto de operación (h₄ = 35 cm); el GPC sí responde gracias a su predicción a N pasos.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</a:rPr>
              <a:t>•  Ambos controladores fueron validados en MATLAB y replicados en Simulink, demostrando reproducibilidad.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333333"/>
                </a:solidFill>
              </a:rPr>
              <a:t>•  Trade-off identificado: mayor desempeño del GPC vs mayor costo computacional y dependencia del modelo.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TRABAJO FUTURO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Implementación experimental en la planta piloto del Lab. de Control Avanzado de la PUCP.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Evaluación del controlador frente a perturbaciones físicas reales (fugas, fallos de actuadores, ruido industrial).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Estudio de variantes:  GPC adaptativo, NMPC para manejo explícito de la no linealidad.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Análisis de robustez ante incertidumbre paramétrica y envejecimiento del proceso.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333333"/>
                </a:solidFill>
              </a:rPr>
              <a:t>•  Integración con plataformas SCADA / MES industriales para validación en entorno productivo.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BIBLIOGRAFÍA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[1]  E. Laubwald, “Coupled tank system,” Control Systems Principles, 2005.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[2]  W. Yuan, “Mathematical Model Analysis and Control Strategy,” ICMCR 2023.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[3]  Short, M. &amp; Selvakumar, A. (2020). Non-Linear Tank Level Control for Industrial Applications.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[4]  Numsomran, V., Tipsuwanporn, V., Tirasesth, K. “Modeling of the modified Quadruple-Tank Process,” SICE 2008.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[5]  Azam, S.N.M. &amp; Jørgensen, J.B. “Modeling and simulation of a modified quadruple tank system,” ICCSCE 2015.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[6]  Yu, Y. et al. (2024). Método de control cooperativo para sistemas acoplados. Scientific Reports.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[7]  Albertos, P. &amp; Sala, A. Multivariable Control Systems. Springer, 2004.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[8]  K. H. Johansson, “The quadruple-tank process,” IEEE Trans. Control Syst. Tech., 2000.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[9]  Pugliese, L. et al. (2022). Planta didáctica de bajo coste para sistemas multivariables.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[10] Sánchez Zurita, V.A. (2018). Diseño de un sistema de control predictivo multivariable. Tesis MSc PUCP.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[11] Gouta, H. et al. (2022). Anti-disturbance composite tracking control. Automatika.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[12] Camacho, E.F. &amp; Bordons, C. Model Predictive Control, 2nd ed., Springer, 2007.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887200" cy="4114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DISEÑO DEL CONTROL DE NIVEL PARA UN SISTEMA DE CUATRO TANQUES ACOPLADOS MEDIANTE CONTROL PREDICTIVO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836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3366"/>
                </a:solidFill>
              </a:rPr>
              <a:t>BIBLIOGRAFÍA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[13] Clarke, D.W. “Application of Generalized Predictive Control to Industrial Processes,” IEEE Control Syst. Mag., 1988.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[14] Santana, H.G. et al. “Application of Multivariable PID Controllers in a Coupled Tank System,” INDUSCON 2018.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[15] Choudhary, P.K., Raj, P. &amp; Das, D.K. “Controller Design for Decoupled TITO Coupled Tank System,” ICSPCRE 2024.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[16] Albin Raj, R.J. &amp; Deepa, S.N. “Modeling and implementation of various controllers used for Quadruple-Tank,” ICCPCT 2016.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[17] Rivera, D.E., Morari, M. &amp; Skogestad, S. (1986). “Internal Model Control: PID Controller Design.”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[18] Åström, K.J. &amp; Hägglund, T. (2006). “Advanced PID Control.” ISA.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[19] Skogestad, S. &amp; Postlethwaite, I. (2005). Multivariable Feedback Control. Wiley.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[20] Shridhar, R. &amp; Cooper, D.J. (1997). “A Tuning Strategy for Unconstrained Multivariable Model Predictive Control.”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[21] Eberhart, R. &amp; Kennedy, J. (1995). “A new optimizer using particle swarm theory,” MHS.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[22] Åström, K.J. &amp; Wittenmark, B. (1997). Computer-Controlled Systems. Prentice Hall.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333333"/>
                </a:solidFill>
              </a:rPr>
              <a:t>•  [23] Ogata, K. (2010). Modern Control Engineering. Prentice Hall.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MUCHAS 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i="1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Edwin Jesús Davila Avalos  —  Asesor: Juan Javier Sotomayor Moriano  —  Lima,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