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Times New Roman Bold" charset="1" panose="02020803070505020304"/>
      <p:regular r:id="rId31"/>
    </p:embeddedFont>
    <p:embeddedFont>
      <p:font typeface="Times New Roman" charset="1" panose="02020603050405020304"/>
      <p:regular r:id="rId32"/>
    </p:embeddedFont>
    <p:embeddedFont>
      <p:font typeface="Proxima Nova" charset="1" panose="02000506030000020004"/>
      <p:regular r:id="rId33"/>
    </p:embeddedFont>
    <p:embeddedFont>
      <p:font typeface="Open Sans 1 Bold" charset="1" panose="00000000000000000000"/>
      <p:regular r:id="rId34"/>
    </p:embeddedFont>
    <p:embeddedFont>
      <p:font typeface="Open Sans 2" charset="1" panose="020B0606030504020204"/>
      <p:regular r:id="rId35"/>
    </p:embeddedFont>
    <p:embeddedFont>
      <p:font typeface="Open Sans 1" charset="1" panose="00000000000000000000"/>
      <p:regular r:id="rId36"/>
    </p:embeddedFont>
    <p:embeddedFont>
      <p:font typeface="League Spartan" charset="1" panose="000008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15" Target="../media/image20.png" Type="http://schemas.openxmlformats.org/officeDocument/2006/relationships/image"/><Relationship Id="rId16" Target="../media/image21.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12" Target="../media/image25.png" Type="http://schemas.openxmlformats.org/officeDocument/2006/relationships/image"/><Relationship Id="rId13" Target="../media/image26.png" Type="http://schemas.openxmlformats.org/officeDocument/2006/relationships/image"/><Relationship Id="rId14" Target="../media/image2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png" Type="http://schemas.openxmlformats.org/officeDocument/2006/relationships/image"/><Relationship Id="rId12" Target="../media/image39.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png" Type="http://schemas.openxmlformats.org/officeDocument/2006/relationships/image"/><Relationship Id="rId12" Target="../media/image43.png" Type="http://schemas.openxmlformats.org/officeDocument/2006/relationships/image"/><Relationship Id="rId13" Target="../media/image44.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4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4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4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5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png" Type="http://schemas.openxmlformats.org/officeDocument/2006/relationships/image"/><Relationship Id="rId12" Target="../media/image55.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5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png" Type="http://schemas.openxmlformats.org/officeDocument/2006/relationships/image"/><Relationship Id="rId11" Target="../media/image58.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5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5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png" Type="http://schemas.openxmlformats.org/officeDocument/2006/relationships/image"/><Relationship Id="rId12" Target="../media/image6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6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png" Type="http://schemas.openxmlformats.org/officeDocument/2006/relationships/image"/><Relationship Id="rId12" Target="../media/image67.png" Type="http://schemas.openxmlformats.org/officeDocument/2006/relationships/image"/><Relationship Id="rId13" Target="../media/image68.png" Type="http://schemas.openxmlformats.org/officeDocument/2006/relationships/image"/><Relationship Id="rId14" Target="../media/image69.png" Type="http://schemas.openxmlformats.org/officeDocument/2006/relationships/image"/><Relationship Id="rId15" Target="../media/image70.png" Type="http://schemas.openxmlformats.org/officeDocument/2006/relationships/image"/><Relationship Id="rId16" Target="../media/image71.png" Type="http://schemas.openxmlformats.org/officeDocument/2006/relationships/image"/><Relationship Id="rId17" Target="../media/image72.png" Type="http://schemas.openxmlformats.org/officeDocument/2006/relationships/image"/><Relationship Id="rId18" Target="../media/image73.png" Type="http://schemas.openxmlformats.org/officeDocument/2006/relationships/image"/><Relationship Id="rId19" Target="../media/image74.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6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7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7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0.png" Type="http://schemas.openxmlformats.org/officeDocument/2006/relationships/image"/><Relationship Id="rId9" Target="../media/image7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80.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80.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false" flipV="true" rot="5400000">
            <a:off x="8259455" y="-2544218"/>
            <a:ext cx="10161920" cy="9895170"/>
          </a:xfrm>
          <a:custGeom>
            <a:avLst/>
            <a:gdLst/>
            <a:ahLst/>
            <a:cxnLst/>
            <a:rect r="r" b="b" t="t" l="l"/>
            <a:pathLst>
              <a:path h="9895170" w="10161920">
                <a:moveTo>
                  <a:pt x="0" y="9895170"/>
                </a:moveTo>
                <a:lnTo>
                  <a:pt x="10161920" y="9895170"/>
                </a:lnTo>
                <a:lnTo>
                  <a:pt x="10161920" y="0"/>
                </a:lnTo>
                <a:lnTo>
                  <a:pt x="0" y="0"/>
                </a:lnTo>
                <a:lnTo>
                  <a:pt x="0" y="9895170"/>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34975" y="-3152336"/>
            <a:ext cx="16646854" cy="20985900"/>
          </a:xfrm>
          <a:custGeom>
            <a:avLst/>
            <a:gdLst/>
            <a:ahLst/>
            <a:cxnLst/>
            <a:rect r="r" b="b" t="t" l="l"/>
            <a:pathLst>
              <a:path h="20985900" w="16646854">
                <a:moveTo>
                  <a:pt x="0" y="0"/>
                </a:moveTo>
                <a:lnTo>
                  <a:pt x="16646854" y="0"/>
                </a:lnTo>
                <a:lnTo>
                  <a:pt x="16646854" y="20985900"/>
                </a:lnTo>
                <a:lnTo>
                  <a:pt x="0" y="20985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83597" y="7899297"/>
            <a:ext cx="12248483" cy="4038085"/>
          </a:xfrm>
          <a:custGeom>
            <a:avLst/>
            <a:gdLst/>
            <a:ahLst/>
            <a:cxnLst/>
            <a:rect r="r" b="b" t="t" l="l"/>
            <a:pathLst>
              <a:path h="4038085" w="12248483">
                <a:moveTo>
                  <a:pt x="0" y="0"/>
                </a:moveTo>
                <a:lnTo>
                  <a:pt x="12248483" y="0"/>
                </a:lnTo>
                <a:lnTo>
                  <a:pt x="12248483" y="4038085"/>
                </a:lnTo>
                <a:lnTo>
                  <a:pt x="0" y="4038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5289240">
            <a:off x="-2299399" y="539262"/>
            <a:ext cx="6656198" cy="5258396"/>
          </a:xfrm>
          <a:custGeom>
            <a:avLst/>
            <a:gdLst/>
            <a:ahLst/>
            <a:cxnLst/>
            <a:rect r="r" b="b" t="t" l="l"/>
            <a:pathLst>
              <a:path h="5258396" w="6656198">
                <a:moveTo>
                  <a:pt x="6656198" y="0"/>
                </a:moveTo>
                <a:lnTo>
                  <a:pt x="0" y="0"/>
                </a:lnTo>
                <a:lnTo>
                  <a:pt x="0" y="5258396"/>
                </a:lnTo>
                <a:lnTo>
                  <a:pt x="6656198" y="5258396"/>
                </a:lnTo>
                <a:lnTo>
                  <a:pt x="6656198" y="0"/>
                </a:lnTo>
                <a:close/>
              </a:path>
            </a:pathLst>
          </a:custGeom>
          <a:blipFill>
            <a:blip r:embed="rId8">
              <a:alphaModFix amt="35000"/>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6248955" y="7560199"/>
            <a:ext cx="1976901" cy="3396202"/>
            <a:chOff x="0" y="0"/>
            <a:chExt cx="2635868" cy="4528269"/>
          </a:xfrm>
        </p:grpSpPr>
        <p:sp>
          <p:nvSpPr>
            <p:cNvPr name="Freeform 7" id="7"/>
            <p:cNvSpPr/>
            <p:nvPr/>
          </p:nvSpPr>
          <p:spPr>
            <a:xfrm flipH="false" flipV="false" rot="0">
              <a:off x="3429" y="12700"/>
              <a:ext cx="2629027" cy="4502912"/>
            </a:xfrm>
            <a:custGeom>
              <a:avLst/>
              <a:gdLst/>
              <a:ahLst/>
              <a:cxnLst/>
              <a:rect r="r" b="b" t="t" l="l"/>
              <a:pathLst>
                <a:path h="4502912" w="2629027">
                  <a:moveTo>
                    <a:pt x="2585085" y="4502912"/>
                  </a:moveTo>
                  <a:lnTo>
                    <a:pt x="0" y="25400"/>
                  </a:lnTo>
                  <a:lnTo>
                    <a:pt x="43942" y="0"/>
                  </a:lnTo>
                  <a:lnTo>
                    <a:pt x="2629027" y="4477512"/>
                  </a:lnTo>
                  <a:close/>
                </a:path>
              </a:pathLst>
            </a:custGeom>
            <a:solidFill>
              <a:srgbClr val="F3F6FA"/>
            </a:solidFill>
          </p:spPr>
        </p:sp>
      </p:grpSp>
      <p:grpSp>
        <p:nvGrpSpPr>
          <p:cNvPr name="Group 8" id="8"/>
          <p:cNvGrpSpPr/>
          <p:nvPr/>
        </p:nvGrpSpPr>
        <p:grpSpPr>
          <a:xfrm rot="0">
            <a:off x="352376" y="2115139"/>
            <a:ext cx="5643789" cy="5643789"/>
            <a:chOff x="0" y="0"/>
            <a:chExt cx="7525052" cy="7525052"/>
          </a:xfrm>
        </p:grpSpPr>
        <p:sp>
          <p:nvSpPr>
            <p:cNvPr name="Freeform 9" id="9"/>
            <p:cNvSpPr/>
            <p:nvPr/>
          </p:nvSpPr>
          <p:spPr>
            <a:xfrm flipH="false" flipV="false" rot="0">
              <a:off x="0" y="0"/>
              <a:ext cx="7525004" cy="7525004"/>
            </a:xfrm>
            <a:custGeom>
              <a:avLst/>
              <a:gdLst/>
              <a:ahLst/>
              <a:cxnLst/>
              <a:rect r="r" b="b" t="t" l="l"/>
              <a:pathLst>
                <a:path h="7525004" w="7525004">
                  <a:moveTo>
                    <a:pt x="3762502" y="0"/>
                  </a:moveTo>
                  <a:cubicBezTo>
                    <a:pt x="1684528" y="0"/>
                    <a:pt x="0" y="1684528"/>
                    <a:pt x="0" y="3762502"/>
                  </a:cubicBezTo>
                  <a:cubicBezTo>
                    <a:pt x="0" y="5840476"/>
                    <a:pt x="1684528" y="7525004"/>
                    <a:pt x="3762502" y="7525004"/>
                  </a:cubicBezTo>
                  <a:cubicBezTo>
                    <a:pt x="5840476" y="7525004"/>
                    <a:pt x="7525004" y="5840476"/>
                    <a:pt x="7525004" y="3762502"/>
                  </a:cubicBezTo>
                  <a:cubicBezTo>
                    <a:pt x="7525004" y="1684528"/>
                    <a:pt x="5840476" y="0"/>
                    <a:pt x="3762502" y="0"/>
                  </a:cubicBezTo>
                  <a:close/>
                </a:path>
              </a:pathLst>
            </a:custGeom>
            <a:blipFill>
              <a:blip r:embed="rId10"/>
              <a:stretch>
                <a:fillRect l="0" t="0" r="0" b="0"/>
              </a:stretch>
            </a:blipFill>
          </p:spPr>
        </p:sp>
      </p:grpSp>
      <p:grpSp>
        <p:nvGrpSpPr>
          <p:cNvPr name="Group 10" id="10"/>
          <p:cNvGrpSpPr/>
          <p:nvPr/>
        </p:nvGrpSpPr>
        <p:grpSpPr>
          <a:xfrm rot="0">
            <a:off x="6171235" y="5401837"/>
            <a:ext cx="10347272" cy="57150"/>
            <a:chOff x="0" y="0"/>
            <a:chExt cx="13796363" cy="76200"/>
          </a:xfrm>
        </p:grpSpPr>
        <p:sp>
          <p:nvSpPr>
            <p:cNvPr name="Freeform 11" id="11"/>
            <p:cNvSpPr/>
            <p:nvPr/>
          </p:nvSpPr>
          <p:spPr>
            <a:xfrm flipH="false" flipV="false" rot="0">
              <a:off x="38100" y="0"/>
              <a:ext cx="13720190" cy="76200"/>
            </a:xfrm>
            <a:custGeom>
              <a:avLst/>
              <a:gdLst/>
              <a:ahLst/>
              <a:cxnLst/>
              <a:rect r="r" b="b" t="t" l="l"/>
              <a:pathLst>
                <a:path h="76200" w="13720190">
                  <a:moveTo>
                    <a:pt x="0" y="0"/>
                  </a:moveTo>
                  <a:lnTo>
                    <a:pt x="13720190" y="0"/>
                  </a:lnTo>
                  <a:lnTo>
                    <a:pt x="13720190" y="76200"/>
                  </a:lnTo>
                  <a:lnTo>
                    <a:pt x="0" y="76200"/>
                  </a:lnTo>
                  <a:close/>
                </a:path>
              </a:pathLst>
            </a:custGeom>
            <a:solidFill>
              <a:srgbClr val="3F6271"/>
            </a:solidFill>
          </p:spPr>
        </p:sp>
      </p:grpSp>
      <p:sp>
        <p:nvSpPr>
          <p:cNvPr name="Freeform 12" id="12"/>
          <p:cNvSpPr/>
          <p:nvPr/>
        </p:nvSpPr>
        <p:spPr>
          <a:xfrm flipH="false" flipV="false" rot="0">
            <a:off x="14614723" y="158582"/>
            <a:ext cx="3750417" cy="870118"/>
          </a:xfrm>
          <a:custGeom>
            <a:avLst/>
            <a:gdLst/>
            <a:ahLst/>
            <a:cxnLst/>
            <a:rect r="r" b="b" t="t" l="l"/>
            <a:pathLst>
              <a:path h="870118" w="3750417">
                <a:moveTo>
                  <a:pt x="0" y="0"/>
                </a:moveTo>
                <a:lnTo>
                  <a:pt x="3750418" y="0"/>
                </a:lnTo>
                <a:lnTo>
                  <a:pt x="3750418" y="870118"/>
                </a:lnTo>
                <a:lnTo>
                  <a:pt x="0" y="870118"/>
                </a:lnTo>
                <a:lnTo>
                  <a:pt x="0" y="0"/>
                </a:lnTo>
                <a:close/>
              </a:path>
            </a:pathLst>
          </a:custGeom>
          <a:blipFill>
            <a:blip r:embed="rId11"/>
            <a:stretch>
              <a:fillRect l="0" t="-53331" r="0" b="-54637"/>
            </a:stretch>
          </a:blipFill>
        </p:spPr>
      </p:sp>
      <p:sp>
        <p:nvSpPr>
          <p:cNvPr name="TextBox 13" id="13"/>
          <p:cNvSpPr txBox="true"/>
          <p:nvPr/>
        </p:nvSpPr>
        <p:spPr>
          <a:xfrm rot="0">
            <a:off x="344188" y="7872934"/>
            <a:ext cx="5939409" cy="1999303"/>
          </a:xfrm>
          <a:prstGeom prst="rect">
            <a:avLst/>
          </a:prstGeom>
        </p:spPr>
        <p:txBody>
          <a:bodyPr anchor="t" rtlCol="false" tIns="0" lIns="0" bIns="0" rIns="0">
            <a:spAutoFit/>
          </a:bodyPr>
          <a:lstStyle/>
          <a:p>
            <a:pPr algn="just">
              <a:lnSpc>
                <a:spcPts val="5298"/>
              </a:lnSpc>
            </a:pPr>
            <a:r>
              <a:rPr lang="en-US" sz="3784" b="true">
                <a:solidFill>
                  <a:srgbClr val="FFFFFF"/>
                </a:solidFill>
                <a:latin typeface="Times New Roman Bold"/>
                <a:ea typeface="Times New Roman Bold"/>
                <a:cs typeface="Times New Roman Bold"/>
                <a:sym typeface="Times New Roman Bold"/>
              </a:rPr>
              <a:t>PONTIFICIA UNIVERSIDAD CATÓLICA DEL PERÚ </a:t>
            </a:r>
          </a:p>
        </p:txBody>
      </p:sp>
      <p:sp>
        <p:nvSpPr>
          <p:cNvPr name="TextBox 14" id="14"/>
          <p:cNvSpPr txBox="true"/>
          <p:nvPr/>
        </p:nvSpPr>
        <p:spPr>
          <a:xfrm rot="0">
            <a:off x="8824106" y="6214747"/>
            <a:ext cx="5254934" cy="978129"/>
          </a:xfrm>
          <a:prstGeom prst="rect">
            <a:avLst/>
          </a:prstGeom>
        </p:spPr>
        <p:txBody>
          <a:bodyPr anchor="t" rtlCol="false" tIns="0" lIns="0" bIns="0" rIns="0">
            <a:spAutoFit/>
          </a:bodyPr>
          <a:lstStyle/>
          <a:p>
            <a:pPr algn="just">
              <a:lnSpc>
                <a:spcPts val="3834"/>
              </a:lnSpc>
            </a:pPr>
            <a:r>
              <a:rPr lang="en-US" sz="2738">
                <a:solidFill>
                  <a:srgbClr val="000000"/>
                </a:solidFill>
                <a:latin typeface="Times New Roman"/>
                <a:ea typeface="Times New Roman"/>
                <a:cs typeface="Times New Roman"/>
                <a:sym typeface="Times New Roman"/>
              </a:rPr>
              <a:t>Autor: Edwin Jesus Davila Avalos</a:t>
            </a:r>
          </a:p>
          <a:p>
            <a:pPr algn="just">
              <a:lnSpc>
                <a:spcPts val="3834"/>
              </a:lnSpc>
            </a:pPr>
            <a:r>
              <a:rPr lang="en-US" sz="2738">
                <a:solidFill>
                  <a:srgbClr val="000000"/>
                </a:solidFill>
                <a:latin typeface="Times New Roman"/>
                <a:ea typeface="Times New Roman"/>
                <a:cs typeface="Times New Roman"/>
                <a:sym typeface="Times New Roman"/>
              </a:rPr>
              <a:t>Asesor: Javier Sotomayor Moriano</a:t>
            </a:r>
          </a:p>
        </p:txBody>
      </p:sp>
      <p:sp>
        <p:nvSpPr>
          <p:cNvPr name="TextBox 15" id="15"/>
          <p:cNvSpPr txBox="true"/>
          <p:nvPr/>
        </p:nvSpPr>
        <p:spPr>
          <a:xfrm rot="0">
            <a:off x="6199810" y="2308117"/>
            <a:ext cx="10290122" cy="2960370"/>
          </a:xfrm>
          <a:prstGeom prst="rect">
            <a:avLst/>
          </a:prstGeom>
        </p:spPr>
        <p:txBody>
          <a:bodyPr anchor="t" rtlCol="false" tIns="0" lIns="0" bIns="0" rIns="0">
            <a:spAutoFit/>
          </a:bodyPr>
          <a:lstStyle/>
          <a:p>
            <a:pPr algn="ctr">
              <a:lnSpc>
                <a:spcPts val="5880"/>
              </a:lnSpc>
            </a:pPr>
            <a:r>
              <a:rPr lang="en-US" sz="4200" b="true">
                <a:solidFill>
                  <a:srgbClr val="3F6271"/>
                </a:solidFill>
                <a:latin typeface="Times New Roman Bold"/>
                <a:ea typeface="Times New Roman Bold"/>
                <a:cs typeface="Times New Roman Bold"/>
                <a:sym typeface="Times New Roman Bold"/>
              </a:rPr>
              <a:t>DISEÑO DEL CONTROL DE NIVEL PARA UN SISTEMA DE CUATRO TANQUES ACOPLADOS</a:t>
            </a:r>
          </a:p>
          <a:p>
            <a:pPr algn="ctr">
              <a:lnSpc>
                <a:spcPts val="5880"/>
              </a:lnSpc>
            </a:pPr>
            <a:r>
              <a:rPr lang="en-US" sz="4200" b="true">
                <a:solidFill>
                  <a:srgbClr val="0B1320"/>
                </a:solidFill>
                <a:latin typeface="Times New Roman Bold"/>
                <a:ea typeface="Times New Roman Bold"/>
                <a:cs typeface="Times New Roman Bold"/>
                <a:sym typeface="Times New Roman Bold"/>
              </a:rPr>
              <a:t> MEDIANTE CONTROL PREDICTIVO</a:t>
            </a:r>
          </a:p>
        </p:txBody>
      </p:sp>
      <p:sp>
        <p:nvSpPr>
          <p:cNvPr name="TextBox 16" id="16"/>
          <p:cNvSpPr txBox="true"/>
          <p:nvPr/>
        </p:nvSpPr>
        <p:spPr>
          <a:xfrm rot="0">
            <a:off x="9460747" y="1514430"/>
            <a:ext cx="2743778" cy="433299"/>
          </a:xfrm>
          <a:prstGeom prst="rect">
            <a:avLst/>
          </a:prstGeom>
        </p:spPr>
        <p:txBody>
          <a:bodyPr anchor="t" rtlCol="false" tIns="0" lIns="0" bIns="0" rIns="0">
            <a:spAutoFit/>
          </a:bodyPr>
          <a:lstStyle/>
          <a:p>
            <a:pPr algn="just">
              <a:lnSpc>
                <a:spcPts val="3415"/>
              </a:lnSpc>
            </a:pPr>
            <a:r>
              <a:rPr lang="en-US" sz="2438">
                <a:solidFill>
                  <a:srgbClr val="000000"/>
                </a:solidFill>
                <a:latin typeface="Times New Roman"/>
                <a:ea typeface="Times New Roman"/>
                <a:cs typeface="Times New Roman"/>
                <a:sym typeface="Times New Roman"/>
              </a:rPr>
              <a:t>Trabajo de Tesis 2</a:t>
            </a:r>
          </a:p>
        </p:txBody>
      </p:sp>
      <p:sp>
        <p:nvSpPr>
          <p:cNvPr name="TextBox 17" id="17"/>
          <p:cNvSpPr txBox="true"/>
          <p:nvPr/>
        </p:nvSpPr>
        <p:spPr>
          <a:xfrm rot="0">
            <a:off x="14398934" y="9542484"/>
            <a:ext cx="5254934" cy="414249"/>
          </a:xfrm>
          <a:prstGeom prst="rect">
            <a:avLst/>
          </a:prstGeom>
        </p:spPr>
        <p:txBody>
          <a:bodyPr anchor="t" rtlCol="false" tIns="0" lIns="0" bIns="0" rIns="0">
            <a:spAutoFit/>
          </a:bodyPr>
          <a:lstStyle/>
          <a:p>
            <a:pPr algn="just">
              <a:lnSpc>
                <a:spcPts val="3415"/>
              </a:lnSpc>
            </a:pPr>
            <a:r>
              <a:rPr lang="en-US" sz="2438">
                <a:solidFill>
                  <a:srgbClr val="FFFFFF"/>
                </a:solidFill>
                <a:latin typeface="Proxima Nova"/>
                <a:ea typeface="Proxima Nova"/>
                <a:cs typeface="Proxima Nova"/>
                <a:sym typeface="Proxima Nova"/>
              </a:rPr>
              <a:t>Semestre: 2026-1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86100" y="1079038"/>
            <a:ext cx="10276554" cy="8118477"/>
          </a:xfrm>
          <a:custGeom>
            <a:avLst/>
            <a:gdLst/>
            <a:ahLst/>
            <a:cxnLst/>
            <a:rect r="r" b="b" t="t" l="l"/>
            <a:pathLst>
              <a:path h="8118477" w="10276554">
                <a:moveTo>
                  <a:pt x="10276554" y="0"/>
                </a:moveTo>
                <a:lnTo>
                  <a:pt x="0" y="0"/>
                </a:lnTo>
                <a:lnTo>
                  <a:pt x="0" y="8118478"/>
                </a:lnTo>
                <a:lnTo>
                  <a:pt x="10276554" y="8118478"/>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9011" y="1239487"/>
            <a:ext cx="12884872" cy="7399004"/>
          </a:xfrm>
          <a:prstGeom prst="rect">
            <a:avLst/>
          </a:prstGeom>
        </p:spPr>
        <p:txBody>
          <a:bodyPr anchor="t" rtlCol="false" tIns="0" lIns="0" bIns="0" rIns="0">
            <a:spAutoFit/>
          </a:bodyPr>
          <a:lstStyle/>
          <a:p>
            <a:pPr algn="l" marL="431801" indent="-215900" lvl="1">
              <a:lnSpc>
                <a:spcPts val="2800"/>
              </a:lnSpc>
              <a:buAutoNum type="arabicPeriod" startAt="1"/>
            </a:pPr>
            <a:r>
              <a:rPr lang="en-US" b="true" sz="2000">
                <a:solidFill>
                  <a:srgbClr val="000000"/>
                </a:solidFill>
                <a:latin typeface="Times New Roman Bold"/>
                <a:ea typeface="Times New Roman Bold"/>
                <a:cs typeface="Times New Roman Bold"/>
                <a:sym typeface="Times New Roman Bold"/>
              </a:rPr>
              <a:t>Estudio del c</a:t>
            </a:r>
            <a:r>
              <a:rPr lang="en-US" b="true" sz="2000">
                <a:solidFill>
                  <a:srgbClr val="000000"/>
                </a:solidFill>
                <a:latin typeface="Times New Roman Bold"/>
                <a:ea typeface="Times New Roman Bold"/>
                <a:cs typeface="Times New Roman Bold"/>
                <a:sym typeface="Times New Roman Bold"/>
              </a:rPr>
              <a:t>ontrol de nivel en sistemas de tanques acoplados</a:t>
            </a:r>
          </a:p>
          <a:p>
            <a:pPr algn="l">
              <a:lnSpc>
                <a:spcPts val="2660"/>
              </a:lnSpc>
            </a:pPr>
            <a:r>
              <a:rPr lang="en-US" sz="1900">
                <a:solidFill>
                  <a:srgbClr val="000000"/>
                </a:solidFill>
                <a:latin typeface="Times New Roman"/>
                <a:ea typeface="Times New Roman"/>
                <a:cs typeface="Times New Roman"/>
                <a:sym typeface="Times New Roman"/>
              </a:rPr>
              <a:t>      1.1.</a:t>
            </a:r>
            <a:r>
              <a:rPr lang="en-US" sz="1900">
                <a:solidFill>
                  <a:srgbClr val="000000"/>
                </a:solidFill>
                <a:latin typeface="Times New Roman"/>
                <a:ea typeface="Times New Roman"/>
                <a:cs typeface="Times New Roman"/>
                <a:sym typeface="Times New Roman"/>
              </a:rPr>
              <a:t>Importancia y problematica del control de nivel en procesos industriales</a:t>
            </a:r>
          </a:p>
          <a:p>
            <a:pPr algn="l">
              <a:lnSpc>
                <a:spcPts val="2660"/>
              </a:lnSpc>
            </a:pPr>
            <a:r>
              <a:rPr lang="en-US" sz="1900">
                <a:solidFill>
                  <a:srgbClr val="000000"/>
                </a:solidFill>
                <a:latin typeface="Times New Roman"/>
                <a:ea typeface="Times New Roman"/>
                <a:cs typeface="Times New Roman"/>
                <a:sym typeface="Times New Roman"/>
              </a:rPr>
              <a:t>      1.2. </a:t>
            </a:r>
            <a:r>
              <a:rPr lang="en-US" sz="1900">
                <a:solidFill>
                  <a:srgbClr val="000000"/>
                </a:solidFill>
                <a:latin typeface="Times New Roman"/>
                <a:ea typeface="Times New Roman"/>
                <a:cs typeface="Times New Roman"/>
                <a:sym typeface="Times New Roman"/>
              </a:rPr>
              <a:t>Descripción del sistema de cuatro tanques acoplados</a:t>
            </a:r>
          </a:p>
          <a:p>
            <a:pPr algn="l">
              <a:lnSpc>
                <a:spcPts val="2660"/>
              </a:lnSpc>
            </a:pPr>
            <a:r>
              <a:rPr lang="en-US" sz="1900">
                <a:solidFill>
                  <a:srgbClr val="000000"/>
                </a:solidFill>
                <a:latin typeface="Times New Roman"/>
                <a:ea typeface="Times New Roman"/>
                <a:cs typeface="Times New Roman"/>
                <a:sym typeface="Times New Roman"/>
              </a:rPr>
              <a:t>            </a:t>
            </a:r>
            <a:r>
              <a:rPr lang="en-US" sz="1900">
                <a:solidFill>
                  <a:srgbClr val="000000"/>
                </a:solidFill>
                <a:latin typeface="Times New Roman"/>
                <a:ea typeface="Times New Roman"/>
                <a:cs typeface="Times New Roman"/>
                <a:sym typeface="Times New Roman"/>
              </a:rPr>
              <a:t>Configuración y características del sistema de cuatro tanques acoplados</a:t>
            </a:r>
          </a:p>
          <a:p>
            <a:pPr algn="l">
              <a:lnSpc>
                <a:spcPts val="2660"/>
              </a:lnSpc>
            </a:pPr>
            <a:r>
              <a:rPr lang="en-US" sz="1900">
                <a:solidFill>
                  <a:srgbClr val="000000"/>
                </a:solidFill>
                <a:latin typeface="Times New Roman"/>
                <a:ea typeface="Times New Roman"/>
                <a:cs typeface="Times New Roman"/>
                <a:sym typeface="Times New Roman"/>
              </a:rPr>
              <a:t>      1.3. </a:t>
            </a:r>
            <a:r>
              <a:rPr lang="en-US" sz="1900">
                <a:solidFill>
                  <a:srgbClr val="000000"/>
                </a:solidFill>
                <a:latin typeface="Times New Roman"/>
                <a:ea typeface="Times New Roman"/>
                <a:cs typeface="Times New Roman"/>
                <a:sym typeface="Times New Roman"/>
              </a:rPr>
              <a:t>Estado del arte</a:t>
            </a:r>
          </a:p>
          <a:p>
            <a:pPr algn="l">
              <a:lnSpc>
                <a:spcPts val="2660"/>
              </a:lnSpc>
            </a:pPr>
            <a:r>
              <a:rPr lang="en-US" sz="1900">
                <a:solidFill>
                  <a:srgbClr val="000000"/>
                </a:solidFill>
                <a:latin typeface="Times New Roman"/>
                <a:ea typeface="Times New Roman"/>
                <a:cs typeface="Times New Roman"/>
                <a:sym typeface="Times New Roman"/>
              </a:rPr>
              <a:t>      1.4. </a:t>
            </a:r>
            <a:r>
              <a:rPr lang="en-US" sz="1900">
                <a:solidFill>
                  <a:srgbClr val="000000"/>
                </a:solidFill>
                <a:latin typeface="Times New Roman"/>
                <a:ea typeface="Times New Roman"/>
                <a:cs typeface="Times New Roman"/>
                <a:sym typeface="Times New Roman"/>
              </a:rPr>
              <a:t>Justificación del estudio</a:t>
            </a:r>
          </a:p>
          <a:p>
            <a:pPr algn="l">
              <a:lnSpc>
                <a:spcPts val="2660"/>
              </a:lnSpc>
            </a:pPr>
            <a:r>
              <a:rPr lang="en-US" sz="1900">
                <a:solidFill>
                  <a:srgbClr val="000000"/>
                </a:solidFill>
                <a:latin typeface="Times New Roman"/>
                <a:ea typeface="Times New Roman"/>
                <a:cs typeface="Times New Roman"/>
                <a:sym typeface="Times New Roman"/>
              </a:rPr>
              <a:t>      1.5. </a:t>
            </a:r>
            <a:r>
              <a:rPr lang="en-US" sz="1900">
                <a:solidFill>
                  <a:srgbClr val="000000"/>
                </a:solidFill>
                <a:latin typeface="Times New Roman"/>
                <a:ea typeface="Times New Roman"/>
                <a:cs typeface="Times New Roman"/>
                <a:sym typeface="Times New Roman"/>
              </a:rPr>
              <a:t>Objetivos del trabajo de investigación</a:t>
            </a:r>
          </a:p>
          <a:p>
            <a:pPr algn="l">
              <a:lnSpc>
                <a:spcPts val="2660"/>
              </a:lnSpc>
            </a:pPr>
          </a:p>
          <a:p>
            <a:pPr algn="l" marL="431801" indent="-215900" lvl="1">
              <a:lnSpc>
                <a:spcPts val="2800"/>
              </a:lnSpc>
              <a:buAutoNum type="arabicPeriod" startAt="1"/>
            </a:pPr>
            <a:r>
              <a:rPr lang="en-US" b="true" sz="2000">
                <a:solidFill>
                  <a:srgbClr val="000000"/>
                </a:solidFill>
                <a:latin typeface="Times New Roman Bold"/>
                <a:ea typeface="Times New Roman Bold"/>
                <a:cs typeface="Times New Roman Bold"/>
                <a:sym typeface="Times New Roman Bold"/>
              </a:rPr>
              <a:t>Modelado del Sistema Hidráulico de Cuatro Tanques Acoplados y Fundamentos del Control Predictivo SISO</a:t>
            </a:r>
          </a:p>
          <a:p>
            <a:pPr algn="l">
              <a:lnSpc>
                <a:spcPts val="2660"/>
              </a:lnSpc>
            </a:pPr>
            <a:r>
              <a:rPr lang="en-US" sz="1900">
                <a:solidFill>
                  <a:srgbClr val="000000"/>
                </a:solidFill>
                <a:latin typeface="Times New Roman"/>
                <a:ea typeface="Times New Roman"/>
                <a:cs typeface="Times New Roman"/>
                <a:sym typeface="Times New Roman"/>
              </a:rPr>
              <a:t>      2.1. Modelamiento de la planta piloto</a:t>
            </a:r>
          </a:p>
          <a:p>
            <a:pPr algn="l">
              <a:lnSpc>
                <a:spcPts val="2660"/>
              </a:lnSpc>
            </a:pPr>
            <a:r>
              <a:rPr lang="en-US" sz="1900">
                <a:solidFill>
                  <a:srgbClr val="000000"/>
                </a:solidFill>
                <a:latin typeface="Times New Roman"/>
                <a:ea typeface="Times New Roman"/>
                <a:cs typeface="Times New Roman"/>
                <a:sym typeface="Times New Roman"/>
              </a:rPr>
              <a:t>      2.2. Modelo de control predictivo</a:t>
            </a:r>
          </a:p>
          <a:p>
            <a:pPr algn="l">
              <a:lnSpc>
                <a:spcPts val="2660"/>
              </a:lnSpc>
            </a:pPr>
            <a:r>
              <a:rPr lang="en-US" sz="1900">
                <a:solidFill>
                  <a:srgbClr val="000000"/>
                </a:solidFill>
                <a:latin typeface="Times New Roman"/>
                <a:ea typeface="Times New Roman"/>
                <a:cs typeface="Times New Roman"/>
                <a:sym typeface="Times New Roman"/>
              </a:rPr>
              <a:t>      2.3. </a:t>
            </a:r>
            <a:r>
              <a:rPr lang="en-US" sz="1900">
                <a:solidFill>
                  <a:srgbClr val="000000"/>
                </a:solidFill>
                <a:latin typeface="Times New Roman"/>
                <a:ea typeface="Times New Roman"/>
                <a:cs typeface="Times New Roman"/>
                <a:sym typeface="Times New Roman"/>
              </a:rPr>
              <a:t>Control Predictivo Generalizado (GPC)</a:t>
            </a:r>
          </a:p>
          <a:p>
            <a:pPr algn="l">
              <a:lnSpc>
                <a:spcPts val="2660"/>
              </a:lnSpc>
            </a:pPr>
            <a:r>
              <a:rPr lang="en-US" sz="1900">
                <a:solidFill>
                  <a:srgbClr val="000000"/>
                </a:solidFill>
                <a:latin typeface="Times New Roman"/>
                <a:ea typeface="Times New Roman"/>
                <a:cs typeface="Times New Roman"/>
                <a:sym typeface="Times New Roman"/>
              </a:rPr>
              <a:t>            2.3.1. </a:t>
            </a:r>
            <a:r>
              <a:rPr lang="en-US" sz="1900">
                <a:solidFill>
                  <a:srgbClr val="000000"/>
                </a:solidFill>
                <a:latin typeface="Times New Roman"/>
                <a:ea typeface="Times New Roman"/>
                <a:cs typeface="Times New Roman"/>
                <a:sym typeface="Times New Roman"/>
              </a:rPr>
              <a:t>Modelo de predicción</a:t>
            </a:r>
          </a:p>
          <a:p>
            <a:pPr algn="l">
              <a:lnSpc>
                <a:spcPts val="2660"/>
              </a:lnSpc>
            </a:pPr>
            <a:r>
              <a:rPr lang="en-US" sz="1900">
                <a:solidFill>
                  <a:srgbClr val="000000"/>
                </a:solidFill>
                <a:latin typeface="Times New Roman"/>
                <a:ea typeface="Times New Roman"/>
                <a:cs typeface="Times New Roman"/>
                <a:sym typeface="Times New Roman"/>
              </a:rPr>
              <a:t>            2.3.2. </a:t>
            </a:r>
            <a:r>
              <a:rPr lang="en-US" sz="1900">
                <a:solidFill>
                  <a:srgbClr val="000000"/>
                </a:solidFill>
                <a:latin typeface="Times New Roman"/>
                <a:ea typeface="Times New Roman"/>
                <a:cs typeface="Times New Roman"/>
                <a:sym typeface="Times New Roman"/>
              </a:rPr>
              <a:t>Función costo y algoritmo de control</a:t>
            </a:r>
          </a:p>
          <a:p>
            <a:pPr algn="l">
              <a:lnSpc>
                <a:spcPts val="2660"/>
              </a:lnSpc>
            </a:pPr>
          </a:p>
          <a:p>
            <a:pPr algn="l" marL="431801" indent="-215900" lvl="1">
              <a:lnSpc>
                <a:spcPts val="2800"/>
              </a:lnSpc>
              <a:buAutoNum type="arabicPeriod" startAt="1"/>
            </a:pPr>
            <a:r>
              <a:rPr lang="en-US" b="true" sz="2000">
                <a:solidFill>
                  <a:srgbClr val="000000"/>
                </a:solidFill>
                <a:latin typeface="Times New Roman Bold"/>
                <a:ea typeface="Times New Roman Bold"/>
                <a:cs typeface="Times New Roman Bold"/>
                <a:sym typeface="Times New Roman Bold"/>
              </a:rPr>
              <a:t>Diseño del Controlador predictivo GPC para el sistema hidráulico de cuatro tanques acoplados (TITO).</a:t>
            </a:r>
          </a:p>
          <a:p>
            <a:pPr algn="l">
              <a:lnSpc>
                <a:spcPts val="2660"/>
              </a:lnSpc>
            </a:pPr>
            <a:r>
              <a:rPr lang="en-US" sz="1900">
                <a:solidFill>
                  <a:srgbClr val="000000"/>
                </a:solidFill>
                <a:latin typeface="Times New Roman"/>
                <a:ea typeface="Times New Roman"/>
                <a:cs typeface="Times New Roman"/>
                <a:sym typeface="Times New Roman"/>
              </a:rPr>
              <a:t>3.1.  Introducción </a:t>
            </a:r>
          </a:p>
          <a:p>
            <a:pPr algn="l">
              <a:lnSpc>
                <a:spcPts val="2660"/>
              </a:lnSpc>
            </a:pPr>
            <a:r>
              <a:rPr lang="en-US" sz="1900">
                <a:solidFill>
                  <a:srgbClr val="000000"/>
                </a:solidFill>
                <a:latin typeface="Times New Roman"/>
                <a:ea typeface="Times New Roman"/>
                <a:cs typeface="Times New Roman"/>
                <a:sym typeface="Times New Roman"/>
              </a:rPr>
              <a:t> 3.2. Matriz Dinámica de la planta piloto</a:t>
            </a:r>
          </a:p>
          <a:p>
            <a:pPr algn="l">
              <a:lnSpc>
                <a:spcPts val="2660"/>
              </a:lnSpc>
            </a:pPr>
            <a:r>
              <a:rPr lang="en-US" sz="1900">
                <a:solidFill>
                  <a:srgbClr val="000000"/>
                </a:solidFill>
                <a:latin typeface="Times New Roman"/>
                <a:ea typeface="Times New Roman"/>
                <a:cs typeface="Times New Roman"/>
                <a:sym typeface="Times New Roman"/>
              </a:rPr>
              <a:t>3.2.1. Cálculo de la Matriz Transferencia</a:t>
            </a:r>
          </a:p>
          <a:p>
            <a:pPr algn="l">
              <a:lnSpc>
                <a:spcPts val="2660"/>
              </a:lnSpc>
            </a:pPr>
            <a:r>
              <a:rPr lang="en-US" sz="1900">
                <a:solidFill>
                  <a:srgbClr val="000000"/>
                </a:solidFill>
                <a:latin typeface="Times New Roman"/>
                <a:ea typeface="Times New Roman"/>
                <a:cs typeface="Times New Roman"/>
                <a:sym typeface="Times New Roman"/>
              </a:rPr>
              <a:t>3.2.2. Selección del Horizonte del Modelo y Tiempo de muestreo</a:t>
            </a:r>
          </a:p>
          <a:p>
            <a:pPr algn="l">
              <a:lnSpc>
                <a:spcPts val="2660"/>
              </a:lnSpc>
            </a:pPr>
            <a:r>
              <a:rPr lang="en-US" sz="1900">
                <a:solidFill>
                  <a:srgbClr val="000000"/>
                </a:solidFill>
                <a:latin typeface="Times New Roman"/>
                <a:ea typeface="Times New Roman"/>
                <a:cs typeface="Times New Roman"/>
                <a:sym typeface="Times New Roman"/>
              </a:rPr>
              <a:t>3.2.3. Cálculo de los coeficientes de la Matriz Dinámica</a:t>
            </a:r>
          </a:p>
          <a:p>
            <a:pPr algn="l">
              <a:lnSpc>
                <a:spcPts val="2660"/>
              </a:lnSpc>
            </a:pPr>
          </a:p>
        </p:txBody>
      </p:sp>
      <p:sp>
        <p:nvSpPr>
          <p:cNvPr name="Freeform 4" id="4"/>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43582" y="-2960596"/>
            <a:ext cx="13478914" cy="12325430"/>
            <a:chOff x="0" y="0"/>
            <a:chExt cx="888867" cy="812800"/>
          </a:xfrm>
        </p:grpSpPr>
        <p:sp>
          <p:nvSpPr>
            <p:cNvPr name="Freeform 6" id="6"/>
            <p:cNvSpPr/>
            <p:nvPr/>
          </p:nvSpPr>
          <p:spPr>
            <a:xfrm flipH="false" flipV="false" rot="0">
              <a:off x="0" y="0"/>
              <a:ext cx="888866" cy="812800"/>
            </a:xfrm>
            <a:custGeom>
              <a:avLst/>
              <a:gdLst/>
              <a:ahLst/>
              <a:cxnLst/>
              <a:rect r="r" b="b" t="t" l="l"/>
              <a:pathLst>
                <a:path h="812800" w="888866">
                  <a:moveTo>
                    <a:pt x="13211" y="0"/>
                  </a:moveTo>
                  <a:lnTo>
                    <a:pt x="875656" y="0"/>
                  </a:lnTo>
                  <a:cubicBezTo>
                    <a:pt x="882952" y="0"/>
                    <a:pt x="888866" y="5915"/>
                    <a:pt x="888866" y="13211"/>
                  </a:cubicBezTo>
                  <a:lnTo>
                    <a:pt x="888866" y="799589"/>
                  </a:lnTo>
                  <a:cubicBezTo>
                    <a:pt x="888866" y="803093"/>
                    <a:pt x="887475" y="806453"/>
                    <a:pt x="884997" y="808931"/>
                  </a:cubicBezTo>
                  <a:cubicBezTo>
                    <a:pt x="882520" y="811408"/>
                    <a:pt x="879160" y="812800"/>
                    <a:pt x="875656" y="812800"/>
                  </a:cubicBezTo>
                  <a:lnTo>
                    <a:pt x="13211" y="812800"/>
                  </a:lnTo>
                  <a:cubicBezTo>
                    <a:pt x="9707" y="812800"/>
                    <a:pt x="6347" y="811408"/>
                    <a:pt x="3869" y="808931"/>
                  </a:cubicBezTo>
                  <a:cubicBezTo>
                    <a:pt x="1392" y="806453"/>
                    <a:pt x="0" y="803093"/>
                    <a:pt x="0" y="799589"/>
                  </a:cubicBezTo>
                  <a:lnTo>
                    <a:pt x="0" y="13211"/>
                  </a:lnTo>
                  <a:cubicBezTo>
                    <a:pt x="0" y="9707"/>
                    <a:pt x="1392" y="6347"/>
                    <a:pt x="3869" y="3869"/>
                  </a:cubicBezTo>
                  <a:cubicBezTo>
                    <a:pt x="6347" y="1392"/>
                    <a:pt x="9707" y="0"/>
                    <a:pt x="13211" y="0"/>
                  </a:cubicBezTo>
                  <a:close/>
                </a:path>
              </a:pathLst>
            </a:custGeom>
            <a:blipFill>
              <a:blip r:embed="rId6"/>
              <a:stretch>
                <a:fillRect l="-42168" t="0" r="-42168" b="0"/>
              </a:stretch>
            </a:blipFill>
          </p:spPr>
        </p:sp>
      </p:grpSp>
      <p:sp>
        <p:nvSpPr>
          <p:cNvPr name="TextBox 7" id="7"/>
          <p:cNvSpPr txBox="true"/>
          <p:nvPr/>
        </p:nvSpPr>
        <p:spPr>
          <a:xfrm rot="0">
            <a:off x="311639" y="312168"/>
            <a:ext cx="7237570" cy="716532"/>
          </a:xfrm>
          <a:prstGeom prst="rect">
            <a:avLst/>
          </a:prstGeom>
        </p:spPr>
        <p:txBody>
          <a:bodyPr anchor="t" rtlCol="false" tIns="0" lIns="0" bIns="0" rIns="0">
            <a:spAutoFit/>
          </a:bodyPr>
          <a:lstStyle/>
          <a:p>
            <a:pPr algn="l">
              <a:lnSpc>
                <a:spcPts val="5656"/>
              </a:lnSpc>
            </a:pPr>
            <a:r>
              <a:rPr lang="en-US" sz="4040" b="true">
                <a:solidFill>
                  <a:srgbClr val="0B1320"/>
                </a:solidFill>
                <a:latin typeface="Times New Roman Bold"/>
                <a:ea typeface="Times New Roman Bold"/>
                <a:cs typeface="Times New Roman Bold"/>
                <a:sym typeface="Times New Roman Bold"/>
              </a:rPr>
              <a:t>Índ</a:t>
            </a:r>
            <a:r>
              <a:rPr lang="en-US" sz="4040" b="true">
                <a:solidFill>
                  <a:srgbClr val="0B1320"/>
                </a:solidFill>
                <a:latin typeface="Times New Roman Bold"/>
                <a:ea typeface="Times New Roman Bold"/>
                <a:cs typeface="Times New Roman Bold"/>
                <a:sym typeface="Times New Roman Bold"/>
              </a:rPr>
              <a:t>ice General</a:t>
            </a:r>
          </a:p>
        </p:txBody>
      </p:sp>
      <p:sp>
        <p:nvSpPr>
          <p:cNvPr name="TextBox 8" id="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9" id="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0" id="10"/>
          <p:cNvSpPr txBox="true"/>
          <p:nvPr/>
        </p:nvSpPr>
        <p:spPr>
          <a:xfrm rot="0">
            <a:off x="433392" y="1239487"/>
            <a:ext cx="12884872" cy="7399004"/>
          </a:xfrm>
          <a:prstGeom prst="rect">
            <a:avLst/>
          </a:prstGeom>
        </p:spPr>
        <p:txBody>
          <a:bodyPr anchor="t" rtlCol="false" tIns="0" lIns="0" bIns="0" rIns="0">
            <a:spAutoFit/>
          </a:bodyPr>
          <a:lstStyle/>
          <a:p>
            <a:pPr algn="l" marL="431801" indent="-215900" lvl="1">
              <a:lnSpc>
                <a:spcPts val="2800"/>
              </a:lnSpc>
              <a:buAutoNum type="arabicPeriod" startAt="1"/>
            </a:pPr>
            <a:r>
              <a:rPr lang="en-US" b="true" sz="2000">
                <a:solidFill>
                  <a:srgbClr val="FFFFFF"/>
                </a:solidFill>
                <a:latin typeface="Times New Roman Bold"/>
                <a:ea typeface="Times New Roman Bold"/>
                <a:cs typeface="Times New Roman Bold"/>
                <a:sym typeface="Times New Roman Bold"/>
              </a:rPr>
              <a:t>Estudio del c</a:t>
            </a:r>
            <a:r>
              <a:rPr lang="en-US" b="true" sz="2000">
                <a:solidFill>
                  <a:srgbClr val="FFFFFF"/>
                </a:solidFill>
                <a:latin typeface="Times New Roman Bold"/>
                <a:ea typeface="Times New Roman Bold"/>
                <a:cs typeface="Times New Roman Bold"/>
                <a:sym typeface="Times New Roman Bold"/>
              </a:rPr>
              <a:t>ontrol de nivel en sistemas de tanques acoplados</a:t>
            </a:r>
          </a:p>
          <a:p>
            <a:pPr algn="l">
              <a:lnSpc>
                <a:spcPts val="2660"/>
              </a:lnSpc>
            </a:pPr>
            <a:r>
              <a:rPr lang="en-US" sz="1900">
                <a:solidFill>
                  <a:srgbClr val="FFFFFF"/>
                </a:solidFill>
                <a:latin typeface="Times New Roman"/>
                <a:ea typeface="Times New Roman"/>
                <a:cs typeface="Times New Roman"/>
                <a:sym typeface="Times New Roman"/>
              </a:rPr>
              <a:t>      1.1.</a:t>
            </a:r>
            <a:r>
              <a:rPr lang="en-US" sz="1900">
                <a:solidFill>
                  <a:srgbClr val="FFFFFF"/>
                </a:solidFill>
                <a:latin typeface="Times New Roman"/>
                <a:ea typeface="Times New Roman"/>
                <a:cs typeface="Times New Roman"/>
                <a:sym typeface="Times New Roman"/>
              </a:rPr>
              <a:t>Importancia y problematica del control de nivel en procesos industriales</a:t>
            </a:r>
          </a:p>
          <a:p>
            <a:pPr algn="l">
              <a:lnSpc>
                <a:spcPts val="2660"/>
              </a:lnSpc>
            </a:pPr>
            <a:r>
              <a:rPr lang="en-US" sz="1900">
                <a:solidFill>
                  <a:srgbClr val="FFFFFF"/>
                </a:solidFill>
                <a:latin typeface="Times New Roman"/>
                <a:ea typeface="Times New Roman"/>
                <a:cs typeface="Times New Roman"/>
                <a:sym typeface="Times New Roman"/>
              </a:rPr>
              <a:t>      1.2. </a:t>
            </a:r>
            <a:r>
              <a:rPr lang="en-US" sz="1900">
                <a:solidFill>
                  <a:srgbClr val="FFFFFF"/>
                </a:solidFill>
                <a:latin typeface="Times New Roman"/>
                <a:ea typeface="Times New Roman"/>
                <a:cs typeface="Times New Roman"/>
                <a:sym typeface="Times New Roman"/>
              </a:rPr>
              <a:t>Descripción del sistema de cuatro tanques acoplados</a:t>
            </a:r>
          </a:p>
          <a:p>
            <a:pPr algn="l">
              <a:lnSpc>
                <a:spcPts val="2660"/>
              </a:lnSpc>
            </a:pPr>
            <a:r>
              <a:rPr lang="en-US" sz="1900">
                <a:solidFill>
                  <a:srgbClr val="FFFFFF"/>
                </a:solidFill>
                <a:latin typeface="Times New Roman"/>
                <a:ea typeface="Times New Roman"/>
                <a:cs typeface="Times New Roman"/>
                <a:sym typeface="Times New Roman"/>
              </a:rPr>
              <a:t>            </a:t>
            </a:r>
            <a:r>
              <a:rPr lang="en-US" sz="1900">
                <a:solidFill>
                  <a:srgbClr val="FFFFFF"/>
                </a:solidFill>
                <a:latin typeface="Times New Roman"/>
                <a:ea typeface="Times New Roman"/>
                <a:cs typeface="Times New Roman"/>
                <a:sym typeface="Times New Roman"/>
              </a:rPr>
              <a:t>Configuración y características del sistema de cuatro tanques acoplados</a:t>
            </a:r>
          </a:p>
          <a:p>
            <a:pPr algn="l">
              <a:lnSpc>
                <a:spcPts val="2660"/>
              </a:lnSpc>
            </a:pPr>
            <a:r>
              <a:rPr lang="en-US" sz="1900">
                <a:solidFill>
                  <a:srgbClr val="FFFFFF"/>
                </a:solidFill>
                <a:latin typeface="Times New Roman"/>
                <a:ea typeface="Times New Roman"/>
                <a:cs typeface="Times New Roman"/>
                <a:sym typeface="Times New Roman"/>
              </a:rPr>
              <a:t>      1.3. </a:t>
            </a:r>
            <a:r>
              <a:rPr lang="en-US" sz="1900">
                <a:solidFill>
                  <a:srgbClr val="FFFFFF"/>
                </a:solidFill>
                <a:latin typeface="Times New Roman"/>
                <a:ea typeface="Times New Roman"/>
                <a:cs typeface="Times New Roman"/>
                <a:sym typeface="Times New Roman"/>
              </a:rPr>
              <a:t>Estado del arte</a:t>
            </a:r>
          </a:p>
          <a:p>
            <a:pPr algn="l">
              <a:lnSpc>
                <a:spcPts val="2660"/>
              </a:lnSpc>
            </a:pPr>
            <a:r>
              <a:rPr lang="en-US" sz="1900">
                <a:solidFill>
                  <a:srgbClr val="FFFFFF"/>
                </a:solidFill>
                <a:latin typeface="Times New Roman"/>
                <a:ea typeface="Times New Roman"/>
                <a:cs typeface="Times New Roman"/>
                <a:sym typeface="Times New Roman"/>
              </a:rPr>
              <a:t>      1.4. </a:t>
            </a:r>
            <a:r>
              <a:rPr lang="en-US" sz="1900">
                <a:solidFill>
                  <a:srgbClr val="FFFFFF"/>
                </a:solidFill>
                <a:latin typeface="Times New Roman"/>
                <a:ea typeface="Times New Roman"/>
                <a:cs typeface="Times New Roman"/>
                <a:sym typeface="Times New Roman"/>
              </a:rPr>
              <a:t>Justificación del estudio</a:t>
            </a:r>
          </a:p>
          <a:p>
            <a:pPr algn="l">
              <a:lnSpc>
                <a:spcPts val="2660"/>
              </a:lnSpc>
            </a:pPr>
            <a:r>
              <a:rPr lang="en-US" sz="1900">
                <a:solidFill>
                  <a:srgbClr val="FFFFFF"/>
                </a:solidFill>
                <a:latin typeface="Times New Roman"/>
                <a:ea typeface="Times New Roman"/>
                <a:cs typeface="Times New Roman"/>
                <a:sym typeface="Times New Roman"/>
              </a:rPr>
              <a:t>      1.5. </a:t>
            </a:r>
            <a:r>
              <a:rPr lang="en-US" sz="1900">
                <a:solidFill>
                  <a:srgbClr val="FFFFFF"/>
                </a:solidFill>
                <a:latin typeface="Times New Roman"/>
                <a:ea typeface="Times New Roman"/>
                <a:cs typeface="Times New Roman"/>
                <a:sym typeface="Times New Roman"/>
              </a:rPr>
              <a:t>Objetivos del trabajo de investigación</a:t>
            </a:r>
          </a:p>
          <a:p>
            <a:pPr algn="l">
              <a:lnSpc>
                <a:spcPts val="2660"/>
              </a:lnSpc>
            </a:pPr>
          </a:p>
          <a:p>
            <a:pPr algn="l" marL="431801" indent="-215900" lvl="1">
              <a:lnSpc>
                <a:spcPts val="2800"/>
              </a:lnSpc>
              <a:buAutoNum type="arabicPeriod" startAt="1"/>
            </a:pPr>
            <a:r>
              <a:rPr lang="en-US" b="true" sz="2000">
                <a:solidFill>
                  <a:srgbClr val="FFFFFF"/>
                </a:solidFill>
                <a:latin typeface="Times New Roman Bold"/>
                <a:ea typeface="Times New Roman Bold"/>
                <a:cs typeface="Times New Roman Bold"/>
                <a:sym typeface="Times New Roman Bold"/>
              </a:rPr>
              <a:t>Modelado del Sistema Hidráulico de Cuatro Tanques Acoplados y Fundamentos del Control Predictivo SISO</a:t>
            </a:r>
          </a:p>
          <a:p>
            <a:pPr algn="l">
              <a:lnSpc>
                <a:spcPts val="2660"/>
              </a:lnSpc>
            </a:pPr>
            <a:r>
              <a:rPr lang="en-US" sz="1900">
                <a:solidFill>
                  <a:srgbClr val="FFFFFF"/>
                </a:solidFill>
                <a:latin typeface="Times New Roman"/>
                <a:ea typeface="Times New Roman"/>
                <a:cs typeface="Times New Roman"/>
                <a:sym typeface="Times New Roman"/>
              </a:rPr>
              <a:t>      2.1. Modelamiento de la planta piloto</a:t>
            </a:r>
          </a:p>
          <a:p>
            <a:pPr algn="l">
              <a:lnSpc>
                <a:spcPts val="2660"/>
              </a:lnSpc>
            </a:pPr>
            <a:r>
              <a:rPr lang="en-US" sz="1900">
                <a:solidFill>
                  <a:srgbClr val="FFFFFF"/>
                </a:solidFill>
                <a:latin typeface="Times New Roman"/>
                <a:ea typeface="Times New Roman"/>
                <a:cs typeface="Times New Roman"/>
                <a:sym typeface="Times New Roman"/>
              </a:rPr>
              <a:t>      2.2. Modelo de control predictivo</a:t>
            </a:r>
          </a:p>
          <a:p>
            <a:pPr algn="l">
              <a:lnSpc>
                <a:spcPts val="2660"/>
              </a:lnSpc>
            </a:pPr>
            <a:r>
              <a:rPr lang="en-US" sz="1900">
                <a:solidFill>
                  <a:srgbClr val="FFFFFF"/>
                </a:solidFill>
                <a:latin typeface="Times New Roman"/>
                <a:ea typeface="Times New Roman"/>
                <a:cs typeface="Times New Roman"/>
                <a:sym typeface="Times New Roman"/>
              </a:rPr>
              <a:t>      2.3. </a:t>
            </a:r>
            <a:r>
              <a:rPr lang="en-US" sz="1900">
                <a:solidFill>
                  <a:srgbClr val="FFFFFF"/>
                </a:solidFill>
                <a:latin typeface="Times New Roman"/>
                <a:ea typeface="Times New Roman"/>
                <a:cs typeface="Times New Roman"/>
                <a:sym typeface="Times New Roman"/>
              </a:rPr>
              <a:t>Control Predictivo Generalizado (GPC)</a:t>
            </a:r>
          </a:p>
          <a:p>
            <a:pPr algn="l">
              <a:lnSpc>
                <a:spcPts val="2660"/>
              </a:lnSpc>
            </a:pPr>
            <a:r>
              <a:rPr lang="en-US" sz="1900">
                <a:solidFill>
                  <a:srgbClr val="FFFFFF"/>
                </a:solidFill>
                <a:latin typeface="Times New Roman"/>
                <a:ea typeface="Times New Roman"/>
                <a:cs typeface="Times New Roman"/>
                <a:sym typeface="Times New Roman"/>
              </a:rPr>
              <a:t>            2.3.1. </a:t>
            </a:r>
            <a:r>
              <a:rPr lang="en-US" sz="1900">
                <a:solidFill>
                  <a:srgbClr val="FFFFFF"/>
                </a:solidFill>
                <a:latin typeface="Times New Roman"/>
                <a:ea typeface="Times New Roman"/>
                <a:cs typeface="Times New Roman"/>
                <a:sym typeface="Times New Roman"/>
              </a:rPr>
              <a:t>Modelo de predicción</a:t>
            </a:r>
          </a:p>
          <a:p>
            <a:pPr algn="l">
              <a:lnSpc>
                <a:spcPts val="2660"/>
              </a:lnSpc>
            </a:pPr>
            <a:r>
              <a:rPr lang="en-US" sz="1900">
                <a:solidFill>
                  <a:srgbClr val="FFFFFF"/>
                </a:solidFill>
                <a:latin typeface="Times New Roman"/>
                <a:ea typeface="Times New Roman"/>
                <a:cs typeface="Times New Roman"/>
                <a:sym typeface="Times New Roman"/>
              </a:rPr>
              <a:t>            2.3.2. </a:t>
            </a:r>
            <a:r>
              <a:rPr lang="en-US" sz="1900">
                <a:solidFill>
                  <a:srgbClr val="FFFFFF"/>
                </a:solidFill>
                <a:latin typeface="Times New Roman"/>
                <a:ea typeface="Times New Roman"/>
                <a:cs typeface="Times New Roman"/>
                <a:sym typeface="Times New Roman"/>
              </a:rPr>
              <a:t>Función costo y algoritmo de control</a:t>
            </a:r>
          </a:p>
          <a:p>
            <a:pPr algn="l">
              <a:lnSpc>
                <a:spcPts val="2660"/>
              </a:lnSpc>
            </a:pPr>
          </a:p>
          <a:p>
            <a:pPr algn="l" marL="431801" indent="-215900" lvl="1">
              <a:lnSpc>
                <a:spcPts val="2800"/>
              </a:lnSpc>
              <a:buAutoNum type="arabicPeriod" startAt="1"/>
            </a:pPr>
            <a:r>
              <a:rPr lang="en-US" b="true" sz="2000">
                <a:solidFill>
                  <a:srgbClr val="FFFFFF"/>
                </a:solidFill>
                <a:latin typeface="Times New Roman Bold"/>
                <a:ea typeface="Times New Roman Bold"/>
                <a:cs typeface="Times New Roman Bold"/>
                <a:sym typeface="Times New Roman Bold"/>
              </a:rPr>
              <a:t>Diseño del Controlador predictivo GPC para el sistema hidráulico de cuatro tanques acoplados (TITO).</a:t>
            </a:r>
          </a:p>
          <a:p>
            <a:pPr algn="l">
              <a:lnSpc>
                <a:spcPts val="2660"/>
              </a:lnSpc>
            </a:pPr>
            <a:r>
              <a:rPr lang="en-US" sz="1900">
                <a:solidFill>
                  <a:srgbClr val="FFFFFF"/>
                </a:solidFill>
                <a:latin typeface="Times New Roman"/>
                <a:ea typeface="Times New Roman"/>
                <a:cs typeface="Times New Roman"/>
                <a:sym typeface="Times New Roman"/>
              </a:rPr>
              <a:t>3.1.  Introducción </a:t>
            </a:r>
          </a:p>
          <a:p>
            <a:pPr algn="l">
              <a:lnSpc>
                <a:spcPts val="2660"/>
              </a:lnSpc>
            </a:pPr>
            <a:r>
              <a:rPr lang="en-US" sz="1900">
                <a:solidFill>
                  <a:srgbClr val="FFFFFF"/>
                </a:solidFill>
                <a:latin typeface="Times New Roman"/>
                <a:ea typeface="Times New Roman"/>
                <a:cs typeface="Times New Roman"/>
                <a:sym typeface="Times New Roman"/>
              </a:rPr>
              <a:t> 3.2. Matriz Dinámica de la planta piloto</a:t>
            </a:r>
          </a:p>
          <a:p>
            <a:pPr algn="l">
              <a:lnSpc>
                <a:spcPts val="2660"/>
              </a:lnSpc>
            </a:pPr>
            <a:r>
              <a:rPr lang="en-US" sz="1900">
                <a:solidFill>
                  <a:srgbClr val="FFFFFF"/>
                </a:solidFill>
                <a:latin typeface="Times New Roman"/>
                <a:ea typeface="Times New Roman"/>
                <a:cs typeface="Times New Roman"/>
                <a:sym typeface="Times New Roman"/>
              </a:rPr>
              <a:t>3.2.1. Cálculo de la Matriz Transferencia</a:t>
            </a:r>
          </a:p>
          <a:p>
            <a:pPr algn="l">
              <a:lnSpc>
                <a:spcPts val="2660"/>
              </a:lnSpc>
            </a:pPr>
            <a:r>
              <a:rPr lang="en-US" sz="1900">
                <a:solidFill>
                  <a:srgbClr val="FFFFFF"/>
                </a:solidFill>
                <a:latin typeface="Times New Roman"/>
                <a:ea typeface="Times New Roman"/>
                <a:cs typeface="Times New Roman"/>
                <a:sym typeface="Times New Roman"/>
              </a:rPr>
              <a:t>3.2.2. Selección del Horizonte del Modelo y Tiempo de muestreo</a:t>
            </a:r>
          </a:p>
          <a:p>
            <a:pPr algn="l">
              <a:lnSpc>
                <a:spcPts val="2660"/>
              </a:lnSpc>
            </a:pPr>
            <a:r>
              <a:rPr lang="en-US" sz="1900">
                <a:solidFill>
                  <a:srgbClr val="FFFFFF"/>
                </a:solidFill>
                <a:latin typeface="Times New Roman"/>
                <a:ea typeface="Times New Roman"/>
                <a:cs typeface="Times New Roman"/>
                <a:sym typeface="Times New Roman"/>
              </a:rPr>
              <a:t>3.2.3. Cálculo de los coeficientes de la Matriz Dinámica</a:t>
            </a:r>
          </a:p>
          <a:p>
            <a:pPr algn="l">
              <a:lnSpc>
                <a:spcPts val="2660"/>
              </a:lnSpc>
            </a:pPr>
          </a:p>
        </p:txBody>
      </p:sp>
      <p:sp>
        <p:nvSpPr>
          <p:cNvPr name="TextBox 11" id="11"/>
          <p:cNvSpPr txBox="true"/>
          <p:nvPr/>
        </p:nvSpPr>
        <p:spPr>
          <a:xfrm rot="0">
            <a:off x="433392" y="281611"/>
            <a:ext cx="7237570" cy="716532"/>
          </a:xfrm>
          <a:prstGeom prst="rect">
            <a:avLst/>
          </a:prstGeom>
        </p:spPr>
        <p:txBody>
          <a:bodyPr anchor="t" rtlCol="false" tIns="0" lIns="0" bIns="0" rIns="0">
            <a:spAutoFit/>
          </a:bodyPr>
          <a:lstStyle/>
          <a:p>
            <a:pPr algn="l">
              <a:lnSpc>
                <a:spcPts val="5656"/>
              </a:lnSpc>
            </a:pPr>
            <a:r>
              <a:rPr lang="en-US" b="true" sz="4040">
                <a:solidFill>
                  <a:srgbClr val="FFFFFF"/>
                </a:solidFill>
                <a:latin typeface="Times New Roman Bold"/>
                <a:ea typeface="Times New Roman Bold"/>
                <a:cs typeface="Times New Roman Bold"/>
                <a:sym typeface="Times New Roman Bold"/>
              </a:rPr>
              <a:t>Índ</a:t>
            </a:r>
            <a:r>
              <a:rPr lang="en-US" b="true" sz="4040">
                <a:solidFill>
                  <a:srgbClr val="FFFFFF"/>
                </a:solidFill>
                <a:latin typeface="Times New Roman Bold"/>
                <a:ea typeface="Times New Roman Bold"/>
                <a:cs typeface="Times New Roman Bold"/>
                <a:sym typeface="Times New Roman Bold"/>
              </a:rPr>
              <a:t>ice General</a:t>
            </a:r>
          </a:p>
        </p:txBody>
      </p:sp>
      <p:sp>
        <p:nvSpPr>
          <p:cNvPr name="Freeform 12" id="12"/>
          <p:cNvSpPr/>
          <p:nvPr/>
        </p:nvSpPr>
        <p:spPr>
          <a:xfrm flipH="false" flipV="true" rot="5400000">
            <a:off x="8438871" y="-206956"/>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7">
              <a:alphaModFix amt="65999"/>
              <a:extLst>
                <a:ext uri="{96DAC541-7B7A-43D3-8B79-37D633B846F1}">
                  <asvg:svgBlip xmlns:asvg="http://schemas.microsoft.com/office/drawing/2016/SVG/main" r:embed="rId8"/>
                </a:ext>
              </a:extLst>
            </a:blip>
            <a:stretch>
              <a:fillRect l="0" t="-14" r="0" b="-14"/>
            </a:stretch>
          </a:blipFill>
        </p:spPr>
      </p:sp>
      <p:sp>
        <p:nvSpPr>
          <p:cNvPr name="Freeform 13" id="13"/>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9"/>
            <a:stretch>
              <a:fillRect l="0" t="-53331" r="0" b="-54637"/>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316994"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021974" y="3389104"/>
            <a:ext cx="3758588" cy="2839771"/>
          </a:xfrm>
          <a:custGeom>
            <a:avLst/>
            <a:gdLst/>
            <a:ahLst/>
            <a:cxnLst/>
            <a:rect r="r" b="b" t="t" l="l"/>
            <a:pathLst>
              <a:path h="2839771" w="3758588">
                <a:moveTo>
                  <a:pt x="0" y="0"/>
                </a:moveTo>
                <a:lnTo>
                  <a:pt x="3758588" y="0"/>
                </a:lnTo>
                <a:lnTo>
                  <a:pt x="3758588" y="2839771"/>
                </a:lnTo>
                <a:lnTo>
                  <a:pt x="0" y="2839771"/>
                </a:lnTo>
                <a:lnTo>
                  <a:pt x="0" y="0"/>
                </a:lnTo>
                <a:close/>
              </a:path>
            </a:pathLst>
          </a:custGeom>
          <a:blipFill>
            <a:blip r:embed="rId9"/>
            <a:stretch>
              <a:fillRect l="-697" t="-986" r="-697" b="0"/>
            </a:stretch>
          </a:blipFill>
          <a:ln w="19050" cap="rnd">
            <a:solidFill>
              <a:srgbClr val="000000"/>
            </a:solidFill>
            <a:prstDash val="solid"/>
            <a:round/>
          </a:ln>
        </p:spPr>
      </p:sp>
      <p:sp>
        <p:nvSpPr>
          <p:cNvPr name="Freeform 8" id="8"/>
          <p:cNvSpPr/>
          <p:nvPr/>
        </p:nvSpPr>
        <p:spPr>
          <a:xfrm flipH="false" flipV="false" rot="0">
            <a:off x="12812887" y="6624162"/>
            <a:ext cx="4511456" cy="2413629"/>
          </a:xfrm>
          <a:custGeom>
            <a:avLst/>
            <a:gdLst/>
            <a:ahLst/>
            <a:cxnLst/>
            <a:rect r="r" b="b" t="t" l="l"/>
            <a:pathLst>
              <a:path h="2413629" w="4511456">
                <a:moveTo>
                  <a:pt x="0" y="0"/>
                </a:moveTo>
                <a:lnTo>
                  <a:pt x="4511456" y="0"/>
                </a:lnTo>
                <a:lnTo>
                  <a:pt x="4511456" y="2413629"/>
                </a:lnTo>
                <a:lnTo>
                  <a:pt x="0" y="2413629"/>
                </a:lnTo>
                <a:lnTo>
                  <a:pt x="0" y="0"/>
                </a:lnTo>
                <a:close/>
              </a:path>
            </a:pathLst>
          </a:custGeom>
          <a:blipFill>
            <a:blip r:embed="rId10"/>
            <a:stretch>
              <a:fillRect l="0" t="0" r="0" b="0"/>
            </a:stretch>
          </a:blipFill>
          <a:ln w="19050" cap="rnd">
            <a:solidFill>
              <a:srgbClr val="000000"/>
            </a:solidFill>
            <a:prstDash val="solid"/>
            <a:round/>
          </a:ln>
        </p:spPr>
      </p:sp>
      <p:sp>
        <p:nvSpPr>
          <p:cNvPr name="Freeform 9" id="9"/>
          <p:cNvSpPr/>
          <p:nvPr/>
        </p:nvSpPr>
        <p:spPr>
          <a:xfrm flipH="false" flipV="false" rot="1785886">
            <a:off x="11672801" y="1777256"/>
            <a:ext cx="721541" cy="533940"/>
          </a:xfrm>
          <a:custGeom>
            <a:avLst/>
            <a:gdLst/>
            <a:ahLst/>
            <a:cxnLst/>
            <a:rect r="r" b="b" t="t" l="l"/>
            <a:pathLst>
              <a:path h="533940" w="721541">
                <a:moveTo>
                  <a:pt x="0" y="0"/>
                </a:moveTo>
                <a:lnTo>
                  <a:pt x="721541" y="0"/>
                </a:lnTo>
                <a:lnTo>
                  <a:pt x="721541" y="533940"/>
                </a:lnTo>
                <a:lnTo>
                  <a:pt x="0" y="53394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true" rot="-1237577">
            <a:off x="11751263" y="7422522"/>
            <a:ext cx="739092" cy="546928"/>
          </a:xfrm>
          <a:custGeom>
            <a:avLst/>
            <a:gdLst/>
            <a:ahLst/>
            <a:cxnLst/>
            <a:rect r="r" b="b" t="t" l="l"/>
            <a:pathLst>
              <a:path h="546928" w="739092">
                <a:moveTo>
                  <a:pt x="0" y="546928"/>
                </a:moveTo>
                <a:lnTo>
                  <a:pt x="739092" y="546928"/>
                </a:lnTo>
                <a:lnTo>
                  <a:pt x="739092" y="0"/>
                </a:lnTo>
                <a:lnTo>
                  <a:pt x="0" y="0"/>
                </a:lnTo>
                <a:lnTo>
                  <a:pt x="0" y="546928"/>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true" flipV="false" rot="-205693">
            <a:off x="11665257" y="4574944"/>
            <a:ext cx="803779" cy="366724"/>
          </a:xfrm>
          <a:custGeom>
            <a:avLst/>
            <a:gdLst/>
            <a:ahLst/>
            <a:cxnLst/>
            <a:rect r="r" b="b" t="t" l="l"/>
            <a:pathLst>
              <a:path h="366724" w="803779">
                <a:moveTo>
                  <a:pt x="803778" y="0"/>
                </a:moveTo>
                <a:lnTo>
                  <a:pt x="0" y="0"/>
                </a:lnTo>
                <a:lnTo>
                  <a:pt x="0" y="366724"/>
                </a:lnTo>
                <a:lnTo>
                  <a:pt x="803778" y="366724"/>
                </a:lnTo>
                <a:lnTo>
                  <a:pt x="803778"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241781" y="1980001"/>
            <a:ext cx="11072972" cy="6860435"/>
          </a:xfrm>
          <a:custGeom>
            <a:avLst/>
            <a:gdLst/>
            <a:ahLst/>
            <a:cxnLst/>
            <a:rect r="r" b="b" t="t" l="l"/>
            <a:pathLst>
              <a:path h="6860435" w="11072972">
                <a:moveTo>
                  <a:pt x="0" y="0"/>
                </a:moveTo>
                <a:lnTo>
                  <a:pt x="11072972" y="0"/>
                </a:lnTo>
                <a:lnTo>
                  <a:pt x="11072972" y="6860435"/>
                </a:lnTo>
                <a:lnTo>
                  <a:pt x="0" y="6860435"/>
                </a:lnTo>
                <a:lnTo>
                  <a:pt x="0" y="0"/>
                </a:lnTo>
                <a:close/>
              </a:path>
            </a:pathLst>
          </a:custGeom>
          <a:blipFill>
            <a:blip r:embed="rId15"/>
            <a:stretch>
              <a:fillRect l="-7835" t="0" r="-9896" b="0"/>
            </a:stretch>
          </a:blipFill>
          <a:ln w="19050" cap="sq">
            <a:solidFill>
              <a:srgbClr val="000000"/>
            </a:solidFill>
            <a:prstDash val="solid"/>
            <a:miter/>
          </a:ln>
        </p:spPr>
      </p:sp>
      <p:sp>
        <p:nvSpPr>
          <p:cNvPr name="Freeform 13" id="13"/>
          <p:cNvSpPr/>
          <p:nvPr/>
        </p:nvSpPr>
        <p:spPr>
          <a:xfrm flipH="false" flipV="false" rot="0">
            <a:off x="12844767" y="1114321"/>
            <a:ext cx="4098756" cy="1859810"/>
          </a:xfrm>
          <a:custGeom>
            <a:avLst/>
            <a:gdLst/>
            <a:ahLst/>
            <a:cxnLst/>
            <a:rect r="r" b="b" t="t" l="l"/>
            <a:pathLst>
              <a:path h="1859810" w="4098756">
                <a:moveTo>
                  <a:pt x="0" y="0"/>
                </a:moveTo>
                <a:lnTo>
                  <a:pt x="4098756" y="0"/>
                </a:lnTo>
                <a:lnTo>
                  <a:pt x="4098756" y="1859810"/>
                </a:lnTo>
                <a:lnTo>
                  <a:pt x="0" y="1859810"/>
                </a:lnTo>
                <a:lnTo>
                  <a:pt x="0" y="0"/>
                </a:lnTo>
                <a:close/>
              </a:path>
            </a:pathLst>
          </a:custGeom>
          <a:blipFill>
            <a:blip r:embed="rId16"/>
            <a:stretch>
              <a:fillRect l="0" t="0" r="0" b="0"/>
            </a:stretch>
          </a:blipFill>
          <a:ln w="19050" cap="rnd">
            <a:solidFill>
              <a:srgbClr val="000000"/>
            </a:solidFill>
            <a:prstDash val="solid"/>
            <a:round/>
          </a:ln>
        </p:spPr>
      </p:sp>
      <p:sp>
        <p:nvSpPr>
          <p:cNvPr name="TextBox 14" id="14"/>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5" id="15"/>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6" id="16"/>
          <p:cNvSpPr txBox="true"/>
          <p:nvPr/>
        </p:nvSpPr>
        <p:spPr>
          <a:xfrm rot="0">
            <a:off x="102811" y="54207"/>
            <a:ext cx="10542760" cy="865500"/>
          </a:xfrm>
          <a:prstGeom prst="rect">
            <a:avLst/>
          </a:prstGeom>
        </p:spPr>
        <p:txBody>
          <a:bodyPr anchor="t" rtlCol="false" tIns="0" lIns="0" bIns="0" rIns="0">
            <a:spAutoFit/>
          </a:bodyPr>
          <a:lstStyle/>
          <a:p>
            <a:pPr algn="l">
              <a:lnSpc>
                <a:spcPts val="2660"/>
              </a:lnSpc>
            </a:pPr>
            <a:r>
              <a:rPr lang="en-US" sz="1900" b="true">
                <a:solidFill>
                  <a:srgbClr val="FFFFFF"/>
                </a:solidFill>
                <a:latin typeface="Times New Roman Bold"/>
                <a:ea typeface="Times New Roman Bold"/>
                <a:cs typeface="Times New Roman Bold"/>
                <a:sym typeface="Times New Roman Bold"/>
              </a:rPr>
              <a:t>1. </a:t>
            </a:r>
            <a:r>
              <a:rPr lang="en-US" b="true" sz="1900">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a:t>
            </a:r>
            <a:r>
              <a:rPr lang="en-US" b="true" sz="2299">
                <a:solidFill>
                  <a:srgbClr val="FFFFFF"/>
                </a:solidFill>
                <a:latin typeface="Times New Roman Bold"/>
                <a:ea typeface="Times New Roman Bold"/>
                <a:cs typeface="Times New Roman Bold"/>
                <a:sym typeface="Times New Roman Bold"/>
              </a:rPr>
              <a:t>1.1.Importancia y problematica del control de nivel en procesos industriales</a:t>
            </a:r>
          </a:p>
          <a:p>
            <a:pPr algn="l">
              <a:lnSpc>
                <a:spcPts val="804"/>
              </a:lnSpc>
            </a:pPr>
          </a:p>
        </p:txBody>
      </p:sp>
      <p:sp>
        <p:nvSpPr>
          <p:cNvPr name="TextBox 17" id="17"/>
          <p:cNvSpPr txBox="true"/>
          <p:nvPr/>
        </p:nvSpPr>
        <p:spPr>
          <a:xfrm rot="0">
            <a:off x="3552447" y="8920676"/>
            <a:ext cx="4214945"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1. Diagrama P&amp;ID del control de PH en el Circuito de CAL</a:t>
            </a:r>
          </a:p>
        </p:txBody>
      </p:sp>
      <p:sp>
        <p:nvSpPr>
          <p:cNvPr name="TextBox 18" id="18"/>
          <p:cNvSpPr txBox="true"/>
          <p:nvPr/>
        </p:nvSpPr>
        <p:spPr>
          <a:xfrm rot="0">
            <a:off x="12763257" y="3040806"/>
            <a:ext cx="4261776"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2. Diagrama de Siistema de control multivariable (MIMO)</a:t>
            </a:r>
          </a:p>
        </p:txBody>
      </p:sp>
      <p:sp>
        <p:nvSpPr>
          <p:cNvPr name="TextBox 19" id="19"/>
          <p:cNvSpPr txBox="true"/>
          <p:nvPr/>
        </p:nvSpPr>
        <p:spPr>
          <a:xfrm rot="0">
            <a:off x="12046931" y="6243162"/>
            <a:ext cx="5694429"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3. Figura comparativa de dinamica linal vs no lineal de un sistema de tanques</a:t>
            </a:r>
          </a:p>
        </p:txBody>
      </p:sp>
      <p:sp>
        <p:nvSpPr>
          <p:cNvPr name="TextBox 20" id="20"/>
          <p:cNvSpPr txBox="true"/>
          <p:nvPr/>
        </p:nvSpPr>
        <p:spPr>
          <a:xfrm rot="0">
            <a:off x="12061450" y="9100983"/>
            <a:ext cx="5665391"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4. Dinamica de un sistema con variables desacopladas vs variables acopladas</a:t>
            </a:r>
          </a:p>
        </p:txBody>
      </p:sp>
      <p:sp>
        <p:nvSpPr>
          <p:cNvPr name="TextBox 21" id="21"/>
          <p:cNvSpPr txBox="true"/>
          <p:nvPr/>
        </p:nvSpPr>
        <p:spPr>
          <a:xfrm rot="0">
            <a:off x="241781" y="1192431"/>
            <a:ext cx="9506599" cy="914462"/>
          </a:xfrm>
          <a:prstGeom prst="rect">
            <a:avLst/>
          </a:prstGeom>
        </p:spPr>
        <p:txBody>
          <a:bodyPr anchor="t" rtlCol="false" tIns="0" lIns="0" bIns="0" rIns="0">
            <a:spAutoFit/>
          </a:bodyPr>
          <a:lstStyle/>
          <a:p>
            <a:pPr algn="l">
              <a:lnSpc>
                <a:spcPts val="3671"/>
              </a:lnSpc>
            </a:pPr>
            <a:r>
              <a:rPr lang="en-US" b="true" sz="2622" u="sng">
                <a:solidFill>
                  <a:srgbClr val="000000"/>
                </a:solidFill>
                <a:latin typeface="Times New Roman Bold"/>
                <a:ea typeface="Times New Roman Bold"/>
                <a:cs typeface="Times New Roman Bold"/>
                <a:sym typeface="Times New Roman Bold"/>
              </a:rPr>
              <a:t>CONTROL DE PH EN EL CIRCUITO DE CAL</a:t>
            </a:r>
          </a:p>
          <a:p>
            <a:pPr algn="l">
              <a:lnSpc>
                <a:spcPts val="367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57382" y="1568235"/>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41781" y="1192431"/>
            <a:ext cx="9506599" cy="914462"/>
          </a:xfrm>
          <a:prstGeom prst="rect">
            <a:avLst/>
          </a:prstGeom>
        </p:spPr>
        <p:txBody>
          <a:bodyPr anchor="t" rtlCol="false" tIns="0" lIns="0" bIns="0" rIns="0">
            <a:spAutoFit/>
          </a:bodyPr>
          <a:lstStyle/>
          <a:p>
            <a:pPr algn="l">
              <a:lnSpc>
                <a:spcPts val="3671"/>
              </a:lnSpc>
            </a:pPr>
            <a:r>
              <a:rPr lang="en-US" b="true" sz="2622" u="sng">
                <a:solidFill>
                  <a:srgbClr val="000000"/>
                </a:solidFill>
                <a:latin typeface="Times New Roman Bold"/>
                <a:ea typeface="Times New Roman Bold"/>
                <a:cs typeface="Times New Roman Bold"/>
                <a:sym typeface="Times New Roman Bold"/>
              </a:rPr>
              <a:t>CONTROL DE PH EN EL CIRCUITO DE CAL</a:t>
            </a:r>
          </a:p>
          <a:p>
            <a:pPr algn="l">
              <a:lnSpc>
                <a:spcPts val="3671"/>
              </a:lnSpc>
            </a:pPr>
          </a:p>
        </p:txBody>
      </p:sp>
      <p:grpSp>
        <p:nvGrpSpPr>
          <p:cNvPr name="Group 8" id="8"/>
          <p:cNvGrpSpPr/>
          <p:nvPr/>
        </p:nvGrpSpPr>
        <p:grpSpPr>
          <a:xfrm rot="0">
            <a:off x="722676" y="1949920"/>
            <a:ext cx="4380871" cy="3144153"/>
            <a:chOff x="0" y="0"/>
            <a:chExt cx="13837044" cy="9930852"/>
          </a:xfrm>
        </p:grpSpPr>
        <p:sp>
          <p:nvSpPr>
            <p:cNvPr name="Freeform 9" id="9"/>
            <p:cNvSpPr/>
            <p:nvPr/>
          </p:nvSpPr>
          <p:spPr>
            <a:xfrm flipH="false" flipV="false" rot="0">
              <a:off x="33989" y="32526"/>
              <a:ext cx="13769114" cy="9865878"/>
            </a:xfrm>
            <a:custGeom>
              <a:avLst/>
              <a:gdLst/>
              <a:ahLst/>
              <a:cxnLst/>
              <a:rect r="r" b="b" t="t" l="l"/>
              <a:pathLst>
                <a:path h="9865878" w="13769114">
                  <a:moveTo>
                    <a:pt x="0" y="0"/>
                  </a:moveTo>
                  <a:lnTo>
                    <a:pt x="13769114" y="0"/>
                  </a:lnTo>
                  <a:lnTo>
                    <a:pt x="13769114" y="9865878"/>
                  </a:lnTo>
                  <a:lnTo>
                    <a:pt x="0" y="9865878"/>
                  </a:lnTo>
                  <a:lnTo>
                    <a:pt x="0" y="0"/>
                  </a:lnTo>
                  <a:close/>
                </a:path>
              </a:pathLst>
            </a:custGeom>
            <a:blipFill>
              <a:blip r:embed="rId9"/>
              <a:stretch>
                <a:fillRect l="-246" t="-2444" r="-245" b="-2471"/>
              </a:stretch>
            </a:blipFill>
          </p:spPr>
        </p:sp>
        <p:sp>
          <p:nvSpPr>
            <p:cNvPr name="Freeform 10" id="10"/>
            <p:cNvSpPr/>
            <p:nvPr/>
          </p:nvSpPr>
          <p:spPr>
            <a:xfrm flipH="false" flipV="false" rot="0">
              <a:off x="0" y="0"/>
              <a:ext cx="13837079" cy="9930913"/>
            </a:xfrm>
            <a:custGeom>
              <a:avLst/>
              <a:gdLst/>
              <a:ahLst/>
              <a:cxnLst/>
              <a:rect r="r" b="b" t="t" l="l"/>
              <a:pathLst>
                <a:path h="9930913" w="13837079">
                  <a:moveTo>
                    <a:pt x="33989" y="0"/>
                  </a:moveTo>
                  <a:lnTo>
                    <a:pt x="13803103" y="0"/>
                  </a:lnTo>
                  <a:cubicBezTo>
                    <a:pt x="13821797" y="0"/>
                    <a:pt x="13837079" y="14637"/>
                    <a:pt x="13837079" y="32526"/>
                  </a:cubicBezTo>
                  <a:lnTo>
                    <a:pt x="13837079" y="9898404"/>
                  </a:lnTo>
                  <a:cubicBezTo>
                    <a:pt x="13837079" y="9916293"/>
                    <a:pt x="13821797" y="9930913"/>
                    <a:pt x="13803103" y="9930913"/>
                  </a:cubicBezTo>
                  <a:lnTo>
                    <a:pt x="33989" y="9930913"/>
                  </a:lnTo>
                  <a:cubicBezTo>
                    <a:pt x="15295" y="9930913"/>
                    <a:pt x="0" y="9916293"/>
                    <a:pt x="0" y="9898404"/>
                  </a:cubicBezTo>
                  <a:lnTo>
                    <a:pt x="0" y="32526"/>
                  </a:lnTo>
                  <a:cubicBezTo>
                    <a:pt x="0" y="14637"/>
                    <a:pt x="15295" y="0"/>
                    <a:pt x="33989" y="0"/>
                  </a:cubicBezTo>
                  <a:moveTo>
                    <a:pt x="33989" y="65053"/>
                  </a:moveTo>
                  <a:lnTo>
                    <a:pt x="33989" y="32526"/>
                  </a:lnTo>
                  <a:lnTo>
                    <a:pt x="67979" y="32526"/>
                  </a:lnTo>
                  <a:lnTo>
                    <a:pt x="67979" y="9898404"/>
                  </a:lnTo>
                  <a:lnTo>
                    <a:pt x="33989" y="9898404"/>
                  </a:lnTo>
                  <a:lnTo>
                    <a:pt x="33989" y="9865878"/>
                  </a:lnTo>
                  <a:lnTo>
                    <a:pt x="13803103" y="9865878"/>
                  </a:lnTo>
                  <a:lnTo>
                    <a:pt x="13803103" y="9898404"/>
                  </a:lnTo>
                  <a:lnTo>
                    <a:pt x="13769113" y="9898404"/>
                  </a:lnTo>
                  <a:lnTo>
                    <a:pt x="13769113" y="32526"/>
                  </a:lnTo>
                  <a:lnTo>
                    <a:pt x="13803103" y="32526"/>
                  </a:lnTo>
                  <a:lnTo>
                    <a:pt x="13803103" y="65053"/>
                  </a:lnTo>
                  <a:lnTo>
                    <a:pt x="33989" y="65053"/>
                  </a:lnTo>
                  <a:close/>
                </a:path>
              </a:pathLst>
            </a:custGeom>
            <a:solidFill>
              <a:srgbClr val="000000"/>
            </a:solidFill>
          </p:spPr>
        </p:sp>
      </p:grpSp>
      <p:grpSp>
        <p:nvGrpSpPr>
          <p:cNvPr name="Group 11" id="11"/>
          <p:cNvGrpSpPr/>
          <p:nvPr/>
        </p:nvGrpSpPr>
        <p:grpSpPr>
          <a:xfrm rot="0">
            <a:off x="6419417" y="1949920"/>
            <a:ext cx="4317197" cy="4704676"/>
            <a:chOff x="0" y="0"/>
            <a:chExt cx="7777861" cy="8475944"/>
          </a:xfrm>
        </p:grpSpPr>
        <p:sp>
          <p:nvSpPr>
            <p:cNvPr name="Freeform 12" id="12"/>
            <p:cNvSpPr/>
            <p:nvPr/>
          </p:nvSpPr>
          <p:spPr>
            <a:xfrm flipH="false" flipV="false" rot="0">
              <a:off x="0" y="0"/>
              <a:ext cx="7777886" cy="8475980"/>
            </a:xfrm>
            <a:custGeom>
              <a:avLst/>
              <a:gdLst/>
              <a:ahLst/>
              <a:cxnLst/>
              <a:rect r="r" b="b" t="t" l="l"/>
              <a:pathLst>
                <a:path h="8475980" w="7777886">
                  <a:moveTo>
                    <a:pt x="0" y="0"/>
                  </a:moveTo>
                  <a:lnTo>
                    <a:pt x="7777886" y="0"/>
                  </a:lnTo>
                  <a:lnTo>
                    <a:pt x="7777886" y="8475980"/>
                  </a:lnTo>
                  <a:lnTo>
                    <a:pt x="0" y="8475980"/>
                  </a:lnTo>
                  <a:lnTo>
                    <a:pt x="0" y="0"/>
                  </a:lnTo>
                  <a:close/>
                </a:path>
              </a:pathLst>
            </a:custGeom>
            <a:blipFill>
              <a:blip r:embed="rId10"/>
              <a:stretch>
                <a:fillRect l="0" t="-281" r="0" b="-281"/>
              </a:stretch>
            </a:blipFill>
            <a:ln w="19050" cap="sq">
              <a:solidFill>
                <a:srgbClr val="000000"/>
              </a:solidFill>
              <a:prstDash val="solid"/>
              <a:miter/>
            </a:ln>
          </p:spPr>
        </p:sp>
      </p:grpSp>
      <p:sp>
        <p:nvSpPr>
          <p:cNvPr name="Freeform 13" id="13"/>
          <p:cNvSpPr/>
          <p:nvPr/>
        </p:nvSpPr>
        <p:spPr>
          <a:xfrm flipH="false" flipV="false" rot="0">
            <a:off x="1126009" y="5544084"/>
            <a:ext cx="3736561" cy="3345703"/>
          </a:xfrm>
          <a:custGeom>
            <a:avLst/>
            <a:gdLst/>
            <a:ahLst/>
            <a:cxnLst/>
            <a:rect r="r" b="b" t="t" l="l"/>
            <a:pathLst>
              <a:path h="3345703" w="3736561">
                <a:moveTo>
                  <a:pt x="0" y="0"/>
                </a:moveTo>
                <a:lnTo>
                  <a:pt x="3736561" y="0"/>
                </a:lnTo>
                <a:lnTo>
                  <a:pt x="3736561" y="3345703"/>
                </a:lnTo>
                <a:lnTo>
                  <a:pt x="0" y="3345703"/>
                </a:lnTo>
                <a:lnTo>
                  <a:pt x="0" y="0"/>
                </a:lnTo>
                <a:close/>
              </a:path>
            </a:pathLst>
          </a:custGeom>
          <a:blipFill>
            <a:blip r:embed="rId11"/>
            <a:stretch>
              <a:fillRect l="0" t="-1545" r="0" b="-1545"/>
            </a:stretch>
          </a:blipFill>
          <a:ln w="19050" cap="sq">
            <a:solidFill>
              <a:srgbClr val="000000"/>
            </a:solidFill>
            <a:prstDash val="solid"/>
            <a:miter/>
          </a:ln>
        </p:spPr>
      </p:sp>
      <p:sp>
        <p:nvSpPr>
          <p:cNvPr name="Freeform 14" id="14"/>
          <p:cNvSpPr/>
          <p:nvPr/>
        </p:nvSpPr>
        <p:spPr>
          <a:xfrm flipH="false" flipV="false" rot="0">
            <a:off x="5286134" y="7440401"/>
            <a:ext cx="5664685" cy="1025446"/>
          </a:xfrm>
          <a:custGeom>
            <a:avLst/>
            <a:gdLst/>
            <a:ahLst/>
            <a:cxnLst/>
            <a:rect r="r" b="b" t="t" l="l"/>
            <a:pathLst>
              <a:path h="1025446" w="5664685">
                <a:moveTo>
                  <a:pt x="0" y="0"/>
                </a:moveTo>
                <a:lnTo>
                  <a:pt x="5664686" y="0"/>
                </a:lnTo>
                <a:lnTo>
                  <a:pt x="5664686" y="1025446"/>
                </a:lnTo>
                <a:lnTo>
                  <a:pt x="0" y="1025446"/>
                </a:lnTo>
                <a:lnTo>
                  <a:pt x="0" y="0"/>
                </a:lnTo>
                <a:close/>
              </a:path>
            </a:pathLst>
          </a:custGeom>
          <a:blipFill>
            <a:blip r:embed="rId12"/>
            <a:stretch>
              <a:fillRect l="-58502" t="0" r="-58502" b="-85971"/>
            </a:stretch>
          </a:blipFill>
        </p:spPr>
      </p:sp>
      <p:sp>
        <p:nvSpPr>
          <p:cNvPr name="Freeform 15" id="15"/>
          <p:cNvSpPr/>
          <p:nvPr/>
        </p:nvSpPr>
        <p:spPr>
          <a:xfrm flipH="false" flipV="false" rot="0">
            <a:off x="11937232" y="1567075"/>
            <a:ext cx="4968714" cy="1546512"/>
          </a:xfrm>
          <a:custGeom>
            <a:avLst/>
            <a:gdLst/>
            <a:ahLst/>
            <a:cxnLst/>
            <a:rect r="r" b="b" t="t" l="l"/>
            <a:pathLst>
              <a:path h="1546512" w="4968714">
                <a:moveTo>
                  <a:pt x="0" y="0"/>
                </a:moveTo>
                <a:lnTo>
                  <a:pt x="4968714" y="0"/>
                </a:lnTo>
                <a:lnTo>
                  <a:pt x="4968714" y="1546512"/>
                </a:lnTo>
                <a:lnTo>
                  <a:pt x="0" y="1546512"/>
                </a:lnTo>
                <a:lnTo>
                  <a:pt x="0" y="0"/>
                </a:lnTo>
                <a:close/>
              </a:path>
            </a:pathLst>
          </a:custGeom>
          <a:blipFill>
            <a:blip r:embed="rId13"/>
            <a:stretch>
              <a:fillRect l="0" t="0" r="0" b="0"/>
            </a:stretch>
          </a:blipFill>
          <a:ln w="19050" cap="sq">
            <a:solidFill>
              <a:srgbClr val="000000"/>
            </a:solidFill>
            <a:prstDash val="solid"/>
            <a:miter/>
          </a:ln>
        </p:spPr>
      </p:sp>
      <p:sp>
        <p:nvSpPr>
          <p:cNvPr name="Freeform 16" id="16"/>
          <p:cNvSpPr/>
          <p:nvPr/>
        </p:nvSpPr>
        <p:spPr>
          <a:xfrm flipH="false" flipV="false" rot="0">
            <a:off x="11184964" y="3819779"/>
            <a:ext cx="6705237" cy="4838863"/>
          </a:xfrm>
          <a:custGeom>
            <a:avLst/>
            <a:gdLst/>
            <a:ahLst/>
            <a:cxnLst/>
            <a:rect r="r" b="b" t="t" l="l"/>
            <a:pathLst>
              <a:path h="4838863" w="6705237">
                <a:moveTo>
                  <a:pt x="0" y="0"/>
                </a:moveTo>
                <a:lnTo>
                  <a:pt x="6705238" y="0"/>
                </a:lnTo>
                <a:lnTo>
                  <a:pt x="6705238" y="4838863"/>
                </a:lnTo>
                <a:lnTo>
                  <a:pt x="0" y="4838863"/>
                </a:lnTo>
                <a:lnTo>
                  <a:pt x="0" y="0"/>
                </a:lnTo>
                <a:close/>
              </a:path>
            </a:pathLst>
          </a:custGeom>
          <a:blipFill>
            <a:blip r:embed="rId14"/>
            <a:stretch>
              <a:fillRect l="-4567" t="0" r="-4567" b="0"/>
            </a:stretch>
          </a:blipFill>
          <a:ln w="19050" cap="sq">
            <a:solidFill>
              <a:srgbClr val="000000"/>
            </a:solidFill>
            <a:prstDash val="solid"/>
            <a:miter/>
          </a:ln>
        </p:spPr>
      </p:sp>
      <p:sp>
        <p:nvSpPr>
          <p:cNvPr name="TextBox 17" id="17"/>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8" id="18"/>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9" id="19"/>
          <p:cNvSpPr txBox="true"/>
          <p:nvPr/>
        </p:nvSpPr>
        <p:spPr>
          <a:xfrm rot="0">
            <a:off x="102811" y="54207"/>
            <a:ext cx="10896498"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1. </a:t>
            </a:r>
            <a:r>
              <a:rPr lang="en-US" b="true" sz="1899">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1.2. Descripción del sistema de cuatro tanques acoplados</a:t>
            </a:r>
          </a:p>
        </p:txBody>
      </p:sp>
      <p:sp>
        <p:nvSpPr>
          <p:cNvPr name="TextBox 20" id="20"/>
          <p:cNvSpPr txBox="true"/>
          <p:nvPr/>
        </p:nvSpPr>
        <p:spPr>
          <a:xfrm rot="0">
            <a:off x="1028700" y="5124450"/>
            <a:ext cx="3931179"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Fig.5.Sistema real de 4 tanques propuesto por Johansson</a:t>
            </a:r>
          </a:p>
        </p:txBody>
      </p:sp>
      <p:sp>
        <p:nvSpPr>
          <p:cNvPr name="TextBox 21" id="21"/>
          <p:cNvSpPr txBox="true"/>
          <p:nvPr/>
        </p:nvSpPr>
        <p:spPr>
          <a:xfrm rot="0">
            <a:off x="6883028" y="6702639"/>
            <a:ext cx="3389974" cy="3721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7. Diagrama del sistemas de cuatro tanques </a:t>
            </a:r>
          </a:p>
          <a:p>
            <a:pPr algn="ctr">
              <a:lnSpc>
                <a:spcPts val="1539"/>
              </a:lnSpc>
            </a:pPr>
          </a:p>
        </p:txBody>
      </p:sp>
      <p:sp>
        <p:nvSpPr>
          <p:cNvPr name="TextBox 22" id="22"/>
          <p:cNvSpPr txBox="true"/>
          <p:nvPr/>
        </p:nvSpPr>
        <p:spPr>
          <a:xfrm rot="0">
            <a:off x="1694735" y="9076690"/>
            <a:ext cx="2927218"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6. Zonas de fase mínima y no mínima.</a:t>
            </a:r>
          </a:p>
        </p:txBody>
      </p:sp>
      <p:sp>
        <p:nvSpPr>
          <p:cNvPr name="TextBox 23" id="23"/>
          <p:cNvSpPr txBox="true"/>
          <p:nvPr/>
        </p:nvSpPr>
        <p:spPr>
          <a:xfrm rot="0">
            <a:off x="5237645" y="7542028"/>
            <a:ext cx="5761664" cy="1018540"/>
          </a:xfrm>
          <a:prstGeom prst="rect">
            <a:avLst/>
          </a:prstGeom>
        </p:spPr>
        <p:txBody>
          <a:bodyPr anchor="t" rtlCol="false" tIns="0" lIns="0" bIns="0" rIns="0">
            <a:spAutoFit/>
          </a:bodyPr>
          <a:lstStyle/>
          <a:p>
            <a:pPr algn="l" marL="259078" indent="-129539" lvl="1">
              <a:lnSpc>
                <a:spcPts val="1679"/>
              </a:lnSpc>
              <a:buFont typeface="Arial"/>
              <a:buChar char="•"/>
            </a:pPr>
            <a:r>
              <a:rPr lang="en-US" b="true" sz="1199">
                <a:solidFill>
                  <a:srgbClr val="0B1320"/>
                </a:solidFill>
                <a:latin typeface="Open Sans 1 Bold"/>
                <a:ea typeface="Open Sans 1 Bold"/>
                <a:cs typeface="Open Sans 1 Bold"/>
                <a:sym typeface="Open Sans 1 Bold"/>
              </a:rPr>
              <a:t>P+: 0 &lt; γ1+γ2 &lt;</a:t>
            </a:r>
            <a:r>
              <a:rPr lang="en-US" b="true" sz="1199">
                <a:solidFill>
                  <a:srgbClr val="0B1320"/>
                </a:solidFill>
                <a:latin typeface="Open Sans 1 Bold"/>
                <a:ea typeface="Open Sans 1 Bold"/>
                <a:cs typeface="Open Sans 1 Bold"/>
                <a:sym typeface="Open Sans 1 Bold"/>
              </a:rPr>
              <a:t> 1: Sistema de fase no mínima (Al menos un Ceros en el semiplano derecho)</a:t>
            </a:r>
          </a:p>
          <a:p>
            <a:pPr algn="l" marL="259078" indent="-129539" lvl="1">
              <a:lnSpc>
                <a:spcPts val="1679"/>
              </a:lnSpc>
              <a:buFont typeface="Arial"/>
              <a:buChar char="•"/>
            </a:pPr>
            <a:r>
              <a:rPr lang="en-US" b="true" sz="1199">
                <a:solidFill>
                  <a:srgbClr val="0B1320"/>
                </a:solidFill>
                <a:latin typeface="Open Sans 1 Bold"/>
                <a:ea typeface="Open Sans 1 Bold"/>
                <a:cs typeface="Open Sans 1 Bold"/>
                <a:sym typeface="Open Sans 1 Bold"/>
              </a:rPr>
              <a:t>P-: 1 &lt; γ1+γ2 &lt; 2: Sistema de fase mínima (Ceros en el semiplano izquierdo)</a:t>
            </a:r>
          </a:p>
          <a:p>
            <a:pPr algn="ctr">
              <a:lnSpc>
                <a:spcPts val="1539"/>
              </a:lnSpc>
            </a:pPr>
          </a:p>
        </p:txBody>
      </p:sp>
      <p:sp>
        <p:nvSpPr>
          <p:cNvPr name="TextBox 24" id="24"/>
          <p:cNvSpPr txBox="true"/>
          <p:nvPr/>
        </p:nvSpPr>
        <p:spPr>
          <a:xfrm rot="0">
            <a:off x="12223369" y="3189787"/>
            <a:ext cx="4805164"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8. Entradas y salidas del sistema de de cuatro tanques acoplados</a:t>
            </a:r>
          </a:p>
        </p:txBody>
      </p:sp>
      <p:sp>
        <p:nvSpPr>
          <p:cNvPr name="TextBox 25" id="25"/>
          <p:cNvSpPr txBox="true"/>
          <p:nvPr/>
        </p:nvSpPr>
        <p:spPr>
          <a:xfrm rot="0">
            <a:off x="11669530" y="8789457"/>
            <a:ext cx="5912842"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9. Grafico comparativo de respuestas h1 y h2 para fase minima y fase no minima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118477" y="1272448"/>
            <a:ext cx="9506599" cy="914462"/>
          </a:xfrm>
          <a:prstGeom prst="rect">
            <a:avLst/>
          </a:prstGeom>
        </p:spPr>
        <p:txBody>
          <a:bodyPr anchor="t" rtlCol="false" tIns="0" lIns="0" bIns="0" rIns="0">
            <a:spAutoFit/>
          </a:bodyPr>
          <a:lstStyle/>
          <a:p>
            <a:pPr algn="l">
              <a:lnSpc>
                <a:spcPts val="3671"/>
              </a:lnSpc>
            </a:pPr>
            <a:r>
              <a:rPr lang="en-US" b="true" sz="2622" u="sng">
                <a:solidFill>
                  <a:srgbClr val="000000"/>
                </a:solidFill>
                <a:latin typeface="Times New Roman Bold"/>
                <a:ea typeface="Times New Roman Bold"/>
                <a:cs typeface="Times New Roman Bold"/>
                <a:sym typeface="Times New Roman Bold"/>
              </a:rPr>
              <a:t>CONTROL DE PH EN EL CIRCUITO DE CAL</a:t>
            </a:r>
          </a:p>
          <a:p>
            <a:pPr algn="l">
              <a:lnSpc>
                <a:spcPts val="3671"/>
              </a:lnSpc>
            </a:pPr>
          </a:p>
        </p:txBody>
      </p:sp>
      <p:sp>
        <p:nvSpPr>
          <p:cNvPr name="TextBox 8" id="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9" id="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grpSp>
        <p:nvGrpSpPr>
          <p:cNvPr name="Group 10" id="10"/>
          <p:cNvGrpSpPr/>
          <p:nvPr/>
        </p:nvGrpSpPr>
        <p:grpSpPr>
          <a:xfrm rot="0">
            <a:off x="1022312" y="1079796"/>
            <a:ext cx="6073853" cy="7950961"/>
            <a:chOff x="0" y="0"/>
            <a:chExt cx="7691761" cy="10068878"/>
          </a:xfrm>
        </p:grpSpPr>
        <p:sp>
          <p:nvSpPr>
            <p:cNvPr name="Freeform 11" id="11"/>
            <p:cNvSpPr/>
            <p:nvPr/>
          </p:nvSpPr>
          <p:spPr>
            <a:xfrm flipH="false" flipV="false" rot="0">
              <a:off x="0" y="0"/>
              <a:ext cx="7691785" cy="10068915"/>
            </a:xfrm>
            <a:custGeom>
              <a:avLst/>
              <a:gdLst/>
              <a:ahLst/>
              <a:cxnLst/>
              <a:rect r="r" b="b" t="t" l="l"/>
              <a:pathLst>
                <a:path h="10068915" w="7691785">
                  <a:moveTo>
                    <a:pt x="0" y="0"/>
                  </a:moveTo>
                  <a:lnTo>
                    <a:pt x="7691785" y="0"/>
                  </a:lnTo>
                  <a:lnTo>
                    <a:pt x="7691785" y="10068915"/>
                  </a:lnTo>
                  <a:lnTo>
                    <a:pt x="0" y="10068915"/>
                  </a:lnTo>
                  <a:lnTo>
                    <a:pt x="0" y="0"/>
                  </a:lnTo>
                  <a:close/>
                </a:path>
              </a:pathLst>
            </a:custGeom>
            <a:blipFill>
              <a:blip r:embed="rId9"/>
              <a:stretch>
                <a:fillRect l="0" t="-1198" r="0" b="-1198"/>
              </a:stretch>
            </a:blipFill>
            <a:ln w="38100" cap="sq">
              <a:solidFill>
                <a:srgbClr val="000000"/>
              </a:solidFill>
              <a:prstDash val="solid"/>
              <a:miter/>
            </a:ln>
          </p:spPr>
        </p:sp>
      </p:grpSp>
      <p:grpSp>
        <p:nvGrpSpPr>
          <p:cNvPr name="Group 12" id="12"/>
          <p:cNvGrpSpPr/>
          <p:nvPr/>
        </p:nvGrpSpPr>
        <p:grpSpPr>
          <a:xfrm rot="0">
            <a:off x="9465316" y="2343231"/>
            <a:ext cx="5734182" cy="5816300"/>
            <a:chOff x="0" y="0"/>
            <a:chExt cx="7645576" cy="7755067"/>
          </a:xfrm>
        </p:grpSpPr>
        <p:sp>
          <p:nvSpPr>
            <p:cNvPr name="Freeform 13" id="13"/>
            <p:cNvSpPr/>
            <p:nvPr/>
          </p:nvSpPr>
          <p:spPr>
            <a:xfrm flipH="false" flipV="false" rot="0">
              <a:off x="18781" y="25400"/>
              <a:ext cx="7608041" cy="7704328"/>
            </a:xfrm>
            <a:custGeom>
              <a:avLst/>
              <a:gdLst/>
              <a:ahLst/>
              <a:cxnLst/>
              <a:rect r="r" b="b" t="t" l="l"/>
              <a:pathLst>
                <a:path h="7704328" w="7608041">
                  <a:moveTo>
                    <a:pt x="0" y="0"/>
                  </a:moveTo>
                  <a:lnTo>
                    <a:pt x="7608041" y="0"/>
                  </a:lnTo>
                  <a:lnTo>
                    <a:pt x="7608041" y="7704328"/>
                  </a:lnTo>
                  <a:lnTo>
                    <a:pt x="0" y="7704328"/>
                  </a:lnTo>
                  <a:lnTo>
                    <a:pt x="0" y="0"/>
                  </a:lnTo>
                  <a:close/>
                </a:path>
              </a:pathLst>
            </a:custGeom>
            <a:blipFill>
              <a:blip r:embed="rId10"/>
              <a:stretch>
                <a:fillRect l="-879" t="-329" r="-888" b="-166"/>
              </a:stretch>
            </a:blipFill>
          </p:spPr>
        </p:sp>
        <p:sp>
          <p:nvSpPr>
            <p:cNvPr name="Freeform 14" id="14"/>
            <p:cNvSpPr/>
            <p:nvPr/>
          </p:nvSpPr>
          <p:spPr>
            <a:xfrm flipH="false" flipV="false" rot="0">
              <a:off x="0" y="0"/>
              <a:ext cx="7645612" cy="7755128"/>
            </a:xfrm>
            <a:custGeom>
              <a:avLst/>
              <a:gdLst/>
              <a:ahLst/>
              <a:cxnLst/>
              <a:rect r="r" b="b" t="t" l="l"/>
              <a:pathLst>
                <a:path h="7755128" w="7645612">
                  <a:moveTo>
                    <a:pt x="18781" y="0"/>
                  </a:moveTo>
                  <a:lnTo>
                    <a:pt x="7626822" y="0"/>
                  </a:lnTo>
                  <a:cubicBezTo>
                    <a:pt x="7637152" y="0"/>
                    <a:pt x="7645612" y="11430"/>
                    <a:pt x="7645612" y="25400"/>
                  </a:cubicBezTo>
                  <a:lnTo>
                    <a:pt x="7645612" y="7729728"/>
                  </a:lnTo>
                  <a:cubicBezTo>
                    <a:pt x="7645612" y="7743698"/>
                    <a:pt x="7637152" y="7755128"/>
                    <a:pt x="7626822" y="7755128"/>
                  </a:cubicBezTo>
                  <a:lnTo>
                    <a:pt x="18781" y="7755128"/>
                  </a:lnTo>
                  <a:cubicBezTo>
                    <a:pt x="8451" y="7755128"/>
                    <a:pt x="0" y="7743698"/>
                    <a:pt x="0" y="7729728"/>
                  </a:cubicBezTo>
                  <a:lnTo>
                    <a:pt x="0" y="25400"/>
                  </a:lnTo>
                  <a:cubicBezTo>
                    <a:pt x="0" y="11430"/>
                    <a:pt x="8451" y="0"/>
                    <a:pt x="18781" y="0"/>
                  </a:cubicBezTo>
                  <a:moveTo>
                    <a:pt x="18781" y="50800"/>
                  </a:moveTo>
                  <a:lnTo>
                    <a:pt x="18781" y="25400"/>
                  </a:lnTo>
                  <a:lnTo>
                    <a:pt x="37561" y="25400"/>
                  </a:lnTo>
                  <a:lnTo>
                    <a:pt x="37561" y="7729728"/>
                  </a:lnTo>
                  <a:lnTo>
                    <a:pt x="18781" y="7729728"/>
                  </a:lnTo>
                  <a:lnTo>
                    <a:pt x="18781" y="7704328"/>
                  </a:lnTo>
                  <a:lnTo>
                    <a:pt x="7626822" y="7704328"/>
                  </a:lnTo>
                  <a:lnTo>
                    <a:pt x="7626822" y="7729728"/>
                  </a:lnTo>
                  <a:lnTo>
                    <a:pt x="7608042" y="7729728"/>
                  </a:lnTo>
                  <a:lnTo>
                    <a:pt x="7608042" y="25400"/>
                  </a:lnTo>
                  <a:lnTo>
                    <a:pt x="7626822" y="25400"/>
                  </a:lnTo>
                  <a:lnTo>
                    <a:pt x="7626822" y="50800"/>
                  </a:lnTo>
                  <a:lnTo>
                    <a:pt x="18781" y="50800"/>
                  </a:lnTo>
                  <a:close/>
                </a:path>
              </a:pathLst>
            </a:custGeom>
            <a:solidFill>
              <a:srgbClr val="000000"/>
            </a:solidFill>
          </p:spPr>
        </p:sp>
      </p:grpSp>
      <p:sp>
        <p:nvSpPr>
          <p:cNvPr name="TextBox 15" id="15"/>
          <p:cNvSpPr txBox="true"/>
          <p:nvPr/>
        </p:nvSpPr>
        <p:spPr>
          <a:xfrm rot="0">
            <a:off x="2128574" y="9097465"/>
            <a:ext cx="3861329"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10. Diagrama P&amp;ID de la planta de laboratorio V109</a:t>
            </a:r>
          </a:p>
        </p:txBody>
      </p:sp>
      <p:sp>
        <p:nvSpPr>
          <p:cNvPr name="TextBox 16" id="16"/>
          <p:cNvSpPr txBox="true"/>
          <p:nvPr/>
        </p:nvSpPr>
        <p:spPr>
          <a:xfrm rot="0">
            <a:off x="9530610" y="8292881"/>
            <a:ext cx="5668888" cy="562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Fig.11.Sistema con instrumentacion industrial de 4 tanques acoplados </a:t>
            </a:r>
          </a:p>
          <a:p>
            <a:pPr algn="ctr">
              <a:lnSpc>
                <a:spcPts val="1539"/>
              </a:lnSpc>
            </a:pPr>
            <a:r>
              <a:rPr lang="en-US" sz="1099" b="true">
                <a:solidFill>
                  <a:srgbClr val="0B1320"/>
                </a:solidFill>
                <a:latin typeface="Open Sans 1 Bold"/>
                <a:ea typeface="Open Sans 1 Bold"/>
                <a:cs typeface="Open Sans 1 Bold"/>
                <a:sym typeface="Open Sans 1 Bold"/>
              </a:rPr>
              <a:t>del Lab. de control Avanzado V109</a:t>
            </a:r>
          </a:p>
          <a:p>
            <a:pPr algn="ctr">
              <a:lnSpc>
                <a:spcPts val="1539"/>
              </a:lnSpc>
            </a:pPr>
          </a:p>
        </p:txBody>
      </p:sp>
      <p:sp>
        <p:nvSpPr>
          <p:cNvPr name="TextBox 17" id="17"/>
          <p:cNvSpPr txBox="true"/>
          <p:nvPr/>
        </p:nvSpPr>
        <p:spPr>
          <a:xfrm rot="0">
            <a:off x="102811" y="54207"/>
            <a:ext cx="10896498"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1. </a:t>
            </a:r>
            <a:r>
              <a:rPr lang="en-US" b="true" sz="1899">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1.2. Descripción del sistema de cuatro tanques acoplados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8" id="8"/>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9" id="9"/>
          <p:cNvSpPr txBox="true"/>
          <p:nvPr/>
        </p:nvSpPr>
        <p:spPr>
          <a:xfrm rot="0">
            <a:off x="102811" y="54207"/>
            <a:ext cx="9870479"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1. </a:t>
            </a:r>
            <a:r>
              <a:rPr lang="en-US" b="true" sz="1899">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1.3. Estado del arte</a:t>
            </a:r>
          </a:p>
        </p:txBody>
      </p:sp>
      <p:sp>
        <p:nvSpPr>
          <p:cNvPr name="Freeform 10" id="10"/>
          <p:cNvSpPr/>
          <p:nvPr/>
        </p:nvSpPr>
        <p:spPr>
          <a:xfrm flipH="false" flipV="false" rot="0">
            <a:off x="102811" y="1261861"/>
            <a:ext cx="10999340" cy="3680022"/>
          </a:xfrm>
          <a:custGeom>
            <a:avLst/>
            <a:gdLst/>
            <a:ahLst/>
            <a:cxnLst/>
            <a:rect r="r" b="b" t="t" l="l"/>
            <a:pathLst>
              <a:path h="3680022" w="10999340">
                <a:moveTo>
                  <a:pt x="0" y="0"/>
                </a:moveTo>
                <a:lnTo>
                  <a:pt x="10999340" y="0"/>
                </a:lnTo>
                <a:lnTo>
                  <a:pt x="10999340" y="3680022"/>
                </a:lnTo>
                <a:lnTo>
                  <a:pt x="0" y="3680022"/>
                </a:lnTo>
                <a:lnTo>
                  <a:pt x="0" y="0"/>
                </a:lnTo>
                <a:close/>
              </a:path>
            </a:pathLst>
          </a:custGeom>
          <a:blipFill>
            <a:blip r:embed="rId9"/>
            <a:stretch>
              <a:fillRect l="-817" t="-1963" r="0" b="-114"/>
            </a:stretch>
          </a:blipFill>
          <a:ln w="19050" cap="sq">
            <a:solidFill>
              <a:srgbClr val="000000"/>
            </a:solidFill>
            <a:prstDash val="solid"/>
            <a:miter/>
          </a:ln>
        </p:spPr>
      </p:sp>
      <p:sp>
        <p:nvSpPr>
          <p:cNvPr name="Freeform 11" id="11"/>
          <p:cNvSpPr/>
          <p:nvPr/>
        </p:nvSpPr>
        <p:spPr>
          <a:xfrm flipH="false" flipV="false" rot="0">
            <a:off x="102811" y="5521117"/>
            <a:ext cx="10999340" cy="2969395"/>
          </a:xfrm>
          <a:custGeom>
            <a:avLst/>
            <a:gdLst/>
            <a:ahLst/>
            <a:cxnLst/>
            <a:rect r="r" b="b" t="t" l="l"/>
            <a:pathLst>
              <a:path h="2969395" w="10999340">
                <a:moveTo>
                  <a:pt x="0" y="0"/>
                </a:moveTo>
                <a:lnTo>
                  <a:pt x="10999340" y="0"/>
                </a:lnTo>
                <a:lnTo>
                  <a:pt x="10999340" y="2969395"/>
                </a:lnTo>
                <a:lnTo>
                  <a:pt x="0" y="2969395"/>
                </a:lnTo>
                <a:lnTo>
                  <a:pt x="0" y="0"/>
                </a:lnTo>
                <a:close/>
              </a:path>
            </a:pathLst>
          </a:custGeom>
          <a:blipFill>
            <a:blip r:embed="rId10"/>
            <a:stretch>
              <a:fillRect l="0" t="-4174" r="0" b="-4174"/>
            </a:stretch>
          </a:blipFill>
          <a:ln w="19050" cap="sq">
            <a:solidFill>
              <a:srgbClr val="000000"/>
            </a:solidFill>
            <a:prstDash val="solid"/>
            <a:miter/>
          </a:ln>
        </p:spPr>
      </p:sp>
      <p:sp>
        <p:nvSpPr>
          <p:cNvPr name="TextBox 12" id="12"/>
          <p:cNvSpPr txBox="true"/>
          <p:nvPr/>
        </p:nvSpPr>
        <p:spPr>
          <a:xfrm rot="0">
            <a:off x="2349239" y="5034707"/>
            <a:ext cx="7364467" cy="3721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12. Proceso TITO con desacoplador. Sistema TITO con controladores secuenciales [2].</a:t>
            </a:r>
          </a:p>
          <a:p>
            <a:pPr algn="ctr">
              <a:lnSpc>
                <a:spcPts val="1539"/>
              </a:lnSpc>
            </a:pPr>
          </a:p>
        </p:txBody>
      </p:sp>
      <p:sp>
        <p:nvSpPr>
          <p:cNvPr name="TextBox 13" id="13"/>
          <p:cNvSpPr txBox="true"/>
          <p:nvPr/>
        </p:nvSpPr>
        <p:spPr>
          <a:xfrm rot="0">
            <a:off x="2777963" y="8585762"/>
            <a:ext cx="6935743" cy="3721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 13. Proceso TITO con sistema de control híbrido PI-NN y con sistema multi PID-NN [3]</a:t>
            </a:r>
          </a:p>
          <a:p>
            <a:pPr algn="ctr">
              <a:lnSpc>
                <a:spcPts val="1539"/>
              </a:lnSpc>
            </a:pPr>
          </a:p>
        </p:txBody>
      </p:sp>
      <p:sp>
        <p:nvSpPr>
          <p:cNvPr name="Freeform 14" id="14"/>
          <p:cNvSpPr/>
          <p:nvPr/>
        </p:nvSpPr>
        <p:spPr>
          <a:xfrm flipH="false" flipV="false" rot="0">
            <a:off x="11378683" y="2537715"/>
            <a:ext cx="6686487" cy="4153980"/>
          </a:xfrm>
          <a:custGeom>
            <a:avLst/>
            <a:gdLst/>
            <a:ahLst/>
            <a:cxnLst/>
            <a:rect r="r" b="b" t="t" l="l"/>
            <a:pathLst>
              <a:path h="4153980" w="6686487">
                <a:moveTo>
                  <a:pt x="0" y="0"/>
                </a:moveTo>
                <a:lnTo>
                  <a:pt x="6686486" y="0"/>
                </a:lnTo>
                <a:lnTo>
                  <a:pt x="6686486" y="4153980"/>
                </a:lnTo>
                <a:lnTo>
                  <a:pt x="0" y="4153980"/>
                </a:lnTo>
                <a:lnTo>
                  <a:pt x="0" y="0"/>
                </a:lnTo>
                <a:close/>
              </a:path>
            </a:pathLst>
          </a:custGeom>
          <a:blipFill>
            <a:blip r:embed="rId11"/>
            <a:stretch>
              <a:fillRect l="0" t="0" r="0" b="0"/>
            </a:stretch>
          </a:blipFill>
          <a:ln w="19050" cap="sq">
            <a:solidFill>
              <a:srgbClr val="000000"/>
            </a:solidFill>
            <a:prstDash val="solid"/>
            <a:miter/>
          </a:ln>
        </p:spPr>
      </p:sp>
      <p:sp>
        <p:nvSpPr>
          <p:cNvPr name="TextBox 15" id="15"/>
          <p:cNvSpPr txBox="true"/>
          <p:nvPr/>
        </p:nvSpPr>
        <p:spPr>
          <a:xfrm rot="0">
            <a:off x="11657539" y="6824205"/>
            <a:ext cx="5760087"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14. Estructura básica del MPC [4].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4581" y="2127511"/>
            <a:ext cx="8495245" cy="5736674"/>
          </a:xfrm>
          <a:custGeom>
            <a:avLst/>
            <a:gdLst/>
            <a:ahLst/>
            <a:cxnLst/>
            <a:rect r="r" b="b" t="t" l="l"/>
            <a:pathLst>
              <a:path h="5736674" w="8495245">
                <a:moveTo>
                  <a:pt x="0" y="0"/>
                </a:moveTo>
                <a:lnTo>
                  <a:pt x="8495245" y="0"/>
                </a:lnTo>
                <a:lnTo>
                  <a:pt x="8495245" y="5736674"/>
                </a:lnTo>
                <a:lnTo>
                  <a:pt x="0" y="5736674"/>
                </a:lnTo>
                <a:lnTo>
                  <a:pt x="0" y="0"/>
                </a:lnTo>
                <a:close/>
              </a:path>
            </a:pathLst>
          </a:custGeom>
          <a:blipFill>
            <a:blip r:embed="rId9"/>
            <a:stretch>
              <a:fillRect l="-1978" t="-3205" r="-106119" b="-3496"/>
            </a:stretch>
          </a:blipFill>
          <a:ln w="19050" cap="sq">
            <a:solidFill>
              <a:srgbClr val="000000"/>
            </a:solidFill>
            <a:prstDash val="solid"/>
            <a:miter/>
          </a:ln>
        </p:spPr>
      </p:sp>
      <p:sp>
        <p:nvSpPr>
          <p:cNvPr name="Freeform 8" id="8"/>
          <p:cNvSpPr/>
          <p:nvPr/>
        </p:nvSpPr>
        <p:spPr>
          <a:xfrm flipH="false" flipV="false" rot="0">
            <a:off x="9144000" y="2127511"/>
            <a:ext cx="8584576" cy="5736674"/>
          </a:xfrm>
          <a:custGeom>
            <a:avLst/>
            <a:gdLst/>
            <a:ahLst/>
            <a:cxnLst/>
            <a:rect r="r" b="b" t="t" l="l"/>
            <a:pathLst>
              <a:path h="5736674" w="8584576">
                <a:moveTo>
                  <a:pt x="0" y="0"/>
                </a:moveTo>
                <a:lnTo>
                  <a:pt x="8584576" y="0"/>
                </a:lnTo>
                <a:lnTo>
                  <a:pt x="8584576" y="5736674"/>
                </a:lnTo>
                <a:lnTo>
                  <a:pt x="0" y="5736674"/>
                </a:lnTo>
                <a:lnTo>
                  <a:pt x="0" y="0"/>
                </a:lnTo>
                <a:close/>
              </a:path>
            </a:pathLst>
          </a:custGeom>
          <a:blipFill>
            <a:blip r:embed="rId10"/>
            <a:stretch>
              <a:fillRect l="-108062" t="-4125" r="-1654" b="-4537"/>
            </a:stretch>
          </a:blipFill>
          <a:ln w="19050" cap="sq">
            <a:solidFill>
              <a:srgbClr val="000000"/>
            </a:solidFill>
            <a:prstDash val="solid"/>
            <a:miter/>
          </a:ln>
        </p:spPr>
      </p:sp>
      <p:sp>
        <p:nvSpPr>
          <p:cNvPr name="TextBox 9" id="9"/>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0" id="10"/>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1" id="11"/>
          <p:cNvSpPr txBox="true"/>
          <p:nvPr/>
        </p:nvSpPr>
        <p:spPr>
          <a:xfrm rot="0">
            <a:off x="102811" y="54207"/>
            <a:ext cx="9870479"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1. </a:t>
            </a:r>
            <a:r>
              <a:rPr lang="en-US" b="true" sz="1899">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1.4. Justificación del estudio</a:t>
            </a:r>
          </a:p>
        </p:txBody>
      </p:sp>
      <p:sp>
        <p:nvSpPr>
          <p:cNvPr name="TextBox 12" id="12"/>
          <p:cNvSpPr txBox="true"/>
          <p:nvPr/>
        </p:nvSpPr>
        <p:spPr>
          <a:xfrm rot="0">
            <a:off x="5103547" y="7990927"/>
            <a:ext cx="7364467"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 </a:t>
            </a:r>
            <a:r>
              <a:rPr lang="en-US" sz="1099" b="true">
                <a:solidFill>
                  <a:srgbClr val="0B1320"/>
                </a:solidFill>
                <a:latin typeface="Open Sans 1 Bold"/>
                <a:ea typeface="Open Sans 1 Bold"/>
                <a:cs typeface="Open Sans 1 Bold"/>
                <a:sym typeface="Open Sans 1 Bold"/>
              </a:rPr>
              <a:t>Fig. 15. Comparativa de respuestas de controladores aplicados al sistema de cuatro tanques [5]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8" id="8"/>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9" id="9"/>
          <p:cNvSpPr txBox="true"/>
          <p:nvPr/>
        </p:nvSpPr>
        <p:spPr>
          <a:xfrm rot="0">
            <a:off x="102811" y="54207"/>
            <a:ext cx="9870479"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1. </a:t>
            </a:r>
            <a:r>
              <a:rPr lang="en-US" b="true" sz="1899">
                <a:solidFill>
                  <a:srgbClr val="FFFFFF"/>
                </a:solidFill>
                <a:latin typeface="Times New Roman Bold"/>
                <a:ea typeface="Times New Roman Bold"/>
                <a:cs typeface="Times New Roman Bold"/>
                <a:sym typeface="Times New Roman Bold"/>
              </a:rPr>
              <a:t>Estudio del control de nivel en sistemas de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1.5. Objetivos del trabajo de investigación</a:t>
            </a:r>
          </a:p>
        </p:txBody>
      </p:sp>
      <p:sp>
        <p:nvSpPr>
          <p:cNvPr name="TextBox 10" id="10"/>
          <p:cNvSpPr txBox="true"/>
          <p:nvPr/>
        </p:nvSpPr>
        <p:spPr>
          <a:xfrm rot="0">
            <a:off x="517316" y="1516859"/>
            <a:ext cx="4539491" cy="698460"/>
          </a:xfrm>
          <a:prstGeom prst="rect">
            <a:avLst/>
          </a:prstGeom>
        </p:spPr>
        <p:txBody>
          <a:bodyPr anchor="t" rtlCol="false" tIns="0" lIns="0" bIns="0" rIns="0">
            <a:spAutoFit/>
          </a:bodyPr>
          <a:lstStyle/>
          <a:p>
            <a:pPr algn="ctr">
              <a:lnSpc>
                <a:spcPts val="5599"/>
              </a:lnSpc>
            </a:pPr>
            <a:r>
              <a:rPr lang="en-US" sz="3998" b="true">
                <a:solidFill>
                  <a:srgbClr val="000000"/>
                </a:solidFill>
                <a:latin typeface="Times New Roman Bold"/>
                <a:ea typeface="Times New Roman Bold"/>
                <a:cs typeface="Times New Roman Bold"/>
                <a:sym typeface="Times New Roman Bold"/>
              </a:rPr>
              <a:t>Objetivos Generales</a:t>
            </a:r>
          </a:p>
        </p:txBody>
      </p:sp>
      <p:sp>
        <p:nvSpPr>
          <p:cNvPr name="TextBox 11" id="11"/>
          <p:cNvSpPr txBox="true"/>
          <p:nvPr/>
        </p:nvSpPr>
        <p:spPr>
          <a:xfrm rot="0">
            <a:off x="674796" y="2302819"/>
            <a:ext cx="14887363" cy="1153795"/>
          </a:xfrm>
          <a:prstGeom prst="rect">
            <a:avLst/>
          </a:prstGeom>
        </p:spPr>
        <p:txBody>
          <a:bodyPr anchor="t" rtlCol="false" tIns="0" lIns="0" bIns="0" rIns="0">
            <a:spAutoFit/>
          </a:bodyPr>
          <a:lstStyle/>
          <a:p>
            <a:pPr algn="just">
              <a:lnSpc>
                <a:spcPts val="3079"/>
              </a:lnSpc>
            </a:pPr>
            <a:r>
              <a:rPr lang="en-US" sz="2199">
                <a:solidFill>
                  <a:srgbClr val="000000"/>
                </a:solidFill>
                <a:latin typeface="Open Sans 2"/>
                <a:ea typeface="Open Sans 2"/>
                <a:cs typeface="Open Sans 2"/>
                <a:sym typeface="Open Sans 2"/>
              </a:rPr>
              <a:t>Diseñar un controlador predictivo basado en modelo (MPC) para el sistema de cuat</a:t>
            </a:r>
            <a:r>
              <a:rPr lang="en-US" sz="2199">
                <a:solidFill>
                  <a:srgbClr val="000000"/>
                </a:solidFill>
                <a:latin typeface="Open Sans 2"/>
                <a:ea typeface="Open Sans 2"/>
                <a:cs typeface="Open Sans 2"/>
                <a:sym typeface="Open Sans 2"/>
              </a:rPr>
              <a:t>ro tanques acoplados, orientado a la regulación del nivel en los tanques inferiores bajo la presencia de perturbaciones externas y restricciones físicas, garantizando un desempeño robusto y eficiente.</a:t>
            </a:r>
          </a:p>
        </p:txBody>
      </p:sp>
      <p:sp>
        <p:nvSpPr>
          <p:cNvPr name="TextBox 12" id="12"/>
          <p:cNvSpPr txBox="true"/>
          <p:nvPr/>
        </p:nvSpPr>
        <p:spPr>
          <a:xfrm rot="0">
            <a:off x="674796" y="5214740"/>
            <a:ext cx="14887363" cy="2715895"/>
          </a:xfrm>
          <a:prstGeom prst="rect">
            <a:avLst/>
          </a:prstGeom>
        </p:spPr>
        <p:txBody>
          <a:bodyPr anchor="t" rtlCol="false" tIns="0" lIns="0" bIns="0" rIns="0">
            <a:spAutoFit/>
          </a:bodyPr>
          <a:lstStyle/>
          <a:p>
            <a:pPr algn="just" marL="474979" indent="-237490" lvl="1">
              <a:lnSpc>
                <a:spcPts val="3079"/>
              </a:lnSpc>
              <a:buFont typeface="Arial"/>
              <a:buChar char="•"/>
            </a:pPr>
            <a:r>
              <a:rPr lang="en-US" sz="2199">
                <a:solidFill>
                  <a:srgbClr val="000000"/>
                </a:solidFill>
                <a:latin typeface="Open Sans 2"/>
                <a:ea typeface="Open Sans 2"/>
                <a:cs typeface="Open Sans 2"/>
                <a:sym typeface="Open Sans 2"/>
              </a:rPr>
              <a:t>Analizar el comportamiento dinámico del sistema de cuat</a:t>
            </a:r>
            <a:r>
              <a:rPr lang="en-US" sz="2199">
                <a:solidFill>
                  <a:srgbClr val="000000"/>
                </a:solidFill>
                <a:latin typeface="Open Sans 2"/>
                <a:ea typeface="Open Sans 2"/>
                <a:cs typeface="Open Sans 2"/>
                <a:sym typeface="Open Sans 2"/>
              </a:rPr>
              <a:t>ro tanques acoplados y sus principales características multivariables. </a:t>
            </a:r>
          </a:p>
          <a:p>
            <a:pPr algn="just" marL="474979" indent="-237490" lvl="1">
              <a:lnSpc>
                <a:spcPts val="3079"/>
              </a:lnSpc>
              <a:buFont typeface="Arial"/>
              <a:buChar char="•"/>
            </a:pPr>
            <a:r>
              <a:rPr lang="en-US" sz="2199">
                <a:solidFill>
                  <a:srgbClr val="000000"/>
                </a:solidFill>
                <a:latin typeface="Open Sans 2"/>
                <a:ea typeface="Open Sans 2"/>
                <a:cs typeface="Open Sans 2"/>
                <a:sym typeface="Open Sans 2"/>
              </a:rPr>
              <a:t>Modelar el sistema en un marco adecuado para la aplicación del control predictivo basado en modelo. </a:t>
            </a:r>
          </a:p>
          <a:p>
            <a:pPr algn="just" marL="474979" indent="-237490" lvl="1">
              <a:lnSpc>
                <a:spcPts val="3079"/>
              </a:lnSpc>
              <a:buFont typeface="Arial"/>
              <a:buChar char="•"/>
            </a:pPr>
            <a:r>
              <a:rPr lang="en-US" sz="2199">
                <a:solidFill>
                  <a:srgbClr val="000000"/>
                </a:solidFill>
                <a:latin typeface="Open Sans 2"/>
                <a:ea typeface="Open Sans 2"/>
                <a:cs typeface="Open Sans 2"/>
                <a:sym typeface="Open Sans 2"/>
              </a:rPr>
              <a:t>Diseñar e Implementar el controlador MPC en MATLAB/Simulink para evaluar sus características de desempeño. </a:t>
            </a:r>
          </a:p>
          <a:p>
            <a:pPr algn="just" marL="474979" indent="-237490" lvl="1">
              <a:lnSpc>
                <a:spcPts val="3079"/>
              </a:lnSpc>
              <a:buFont typeface="Arial"/>
              <a:buChar char="•"/>
            </a:pPr>
            <a:r>
              <a:rPr lang="en-US" sz="2199">
                <a:solidFill>
                  <a:srgbClr val="000000"/>
                </a:solidFill>
                <a:latin typeface="Open Sans 2"/>
                <a:ea typeface="Open Sans 2"/>
                <a:cs typeface="Open Sans 2"/>
                <a:sym typeface="Open Sans 2"/>
              </a:rPr>
              <a:t>Comparar los resultados obtenidos con técnicas de control convencionales, identificando ventajas y limitaciones del MPC</a:t>
            </a:r>
          </a:p>
        </p:txBody>
      </p:sp>
      <p:sp>
        <p:nvSpPr>
          <p:cNvPr name="TextBox 13" id="13"/>
          <p:cNvSpPr txBox="true"/>
          <p:nvPr/>
        </p:nvSpPr>
        <p:spPr>
          <a:xfrm rot="0">
            <a:off x="517316" y="4211479"/>
            <a:ext cx="4688044" cy="698460"/>
          </a:xfrm>
          <a:prstGeom prst="rect">
            <a:avLst/>
          </a:prstGeom>
        </p:spPr>
        <p:txBody>
          <a:bodyPr anchor="t" rtlCol="false" tIns="0" lIns="0" bIns="0" rIns="0">
            <a:spAutoFit/>
          </a:bodyPr>
          <a:lstStyle/>
          <a:p>
            <a:pPr algn="ctr">
              <a:lnSpc>
                <a:spcPts val="5599"/>
              </a:lnSpc>
            </a:pPr>
            <a:r>
              <a:rPr lang="en-US" sz="3998" b="true">
                <a:solidFill>
                  <a:srgbClr val="000000"/>
                </a:solidFill>
                <a:latin typeface="Times New Roman Bold"/>
                <a:ea typeface="Times New Roman Bold"/>
                <a:cs typeface="Times New Roman Bold"/>
                <a:sym typeface="Times New Roman Bold"/>
              </a:rPr>
              <a:t>Objetivos Especificos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TextBox 6" id="6"/>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7" id="7"/>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Freeform 8" id="8"/>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02811" y="54207"/>
            <a:ext cx="11107108" cy="113728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20"/>
              </a:lnSpc>
            </a:pPr>
            <a:r>
              <a:rPr lang="en-US" b="true" sz="2300">
                <a:solidFill>
                  <a:srgbClr val="FFFFFF"/>
                </a:solidFill>
                <a:latin typeface="Times New Roman Bold"/>
                <a:ea typeface="Times New Roman Bold"/>
                <a:cs typeface="Times New Roman Bold"/>
                <a:sym typeface="Times New Roman Bold"/>
              </a:rPr>
              <a:t>      </a:t>
            </a:r>
            <a:r>
              <a:rPr lang="en-US" b="true" sz="2300">
                <a:solidFill>
                  <a:srgbClr val="FFFFFF"/>
                </a:solidFill>
                <a:latin typeface="Times New Roman Bold"/>
                <a:ea typeface="Times New Roman Bold"/>
                <a:cs typeface="Times New Roman Bold"/>
                <a:sym typeface="Times New Roman Bold"/>
              </a:rPr>
              <a:t>2.1.Introducción al Control Predictivo</a:t>
            </a:r>
          </a:p>
          <a:p>
            <a:pPr algn="l">
              <a:lnSpc>
                <a:spcPts val="3220"/>
              </a:lnSpc>
            </a:pPr>
          </a:p>
        </p:txBody>
      </p:sp>
      <p:grpSp>
        <p:nvGrpSpPr>
          <p:cNvPr name="Group 10" id="10"/>
          <p:cNvGrpSpPr/>
          <p:nvPr/>
        </p:nvGrpSpPr>
        <p:grpSpPr>
          <a:xfrm rot="0">
            <a:off x="1361869" y="1876131"/>
            <a:ext cx="9171640" cy="5755204"/>
            <a:chOff x="0" y="0"/>
            <a:chExt cx="12228853" cy="7673605"/>
          </a:xfrm>
        </p:grpSpPr>
        <p:sp>
          <p:nvSpPr>
            <p:cNvPr name="Freeform 11" id="11"/>
            <p:cNvSpPr/>
            <p:nvPr/>
          </p:nvSpPr>
          <p:spPr>
            <a:xfrm flipH="false" flipV="false" rot="0">
              <a:off x="0" y="0"/>
              <a:ext cx="12228830" cy="7673594"/>
            </a:xfrm>
            <a:custGeom>
              <a:avLst/>
              <a:gdLst/>
              <a:ahLst/>
              <a:cxnLst/>
              <a:rect r="r" b="b" t="t" l="l"/>
              <a:pathLst>
                <a:path h="7673594" w="12228830">
                  <a:moveTo>
                    <a:pt x="0" y="0"/>
                  </a:moveTo>
                  <a:lnTo>
                    <a:pt x="12228830" y="0"/>
                  </a:lnTo>
                  <a:lnTo>
                    <a:pt x="12228830" y="7673594"/>
                  </a:lnTo>
                  <a:lnTo>
                    <a:pt x="0" y="7673594"/>
                  </a:lnTo>
                  <a:lnTo>
                    <a:pt x="0" y="0"/>
                  </a:lnTo>
                  <a:close/>
                </a:path>
              </a:pathLst>
            </a:custGeom>
            <a:blipFill>
              <a:blip r:embed="rId9"/>
              <a:stretch>
                <a:fillRect l="-10" t="0" r="-10" b="0"/>
              </a:stretch>
            </a:blipFill>
          </p:spPr>
        </p:sp>
      </p:grpSp>
      <p:sp>
        <p:nvSpPr>
          <p:cNvPr name="TextBox 12" id="12"/>
          <p:cNvSpPr txBox="true"/>
          <p:nvPr/>
        </p:nvSpPr>
        <p:spPr>
          <a:xfrm rot="0">
            <a:off x="3958380" y="7936135"/>
            <a:ext cx="4501621" cy="181668"/>
          </a:xfrm>
          <a:prstGeom prst="rect">
            <a:avLst/>
          </a:prstGeom>
        </p:spPr>
        <p:txBody>
          <a:bodyPr anchor="t" rtlCol="false" tIns="0" lIns="0" bIns="0" rIns="0">
            <a:spAutoFit/>
          </a:bodyPr>
          <a:lstStyle/>
          <a:p>
            <a:pPr algn="ctr">
              <a:lnSpc>
                <a:spcPts val="1539"/>
              </a:lnSpc>
            </a:pPr>
            <a:r>
              <a:rPr lang="en-US" sz="1100" b="true">
                <a:solidFill>
                  <a:srgbClr val="0B1320"/>
                </a:solidFill>
                <a:latin typeface="Open Sans 1 Bold"/>
                <a:ea typeface="Open Sans 1 Bold"/>
                <a:cs typeface="Open Sans 1 Bold"/>
                <a:sym typeface="Open Sans 1 Bold"/>
              </a:rPr>
              <a:t>Fig.16. Estructura basica del MPC</a:t>
            </a:r>
          </a:p>
        </p:txBody>
      </p:sp>
      <p:sp>
        <p:nvSpPr>
          <p:cNvPr name="TextBox 13" id="13"/>
          <p:cNvSpPr txBox="true"/>
          <p:nvPr/>
        </p:nvSpPr>
        <p:spPr>
          <a:xfrm rot="0">
            <a:off x="11013578" y="4216983"/>
            <a:ext cx="6872685" cy="1893555"/>
          </a:xfrm>
          <a:prstGeom prst="rect">
            <a:avLst/>
          </a:prstGeom>
        </p:spPr>
        <p:txBody>
          <a:bodyPr anchor="t" rtlCol="false" tIns="0" lIns="0" bIns="0" rIns="0">
            <a:spAutoFit/>
          </a:bodyPr>
          <a:lstStyle/>
          <a:p>
            <a:pPr algn="l" marL="617080" indent="-205693" lvl="2">
              <a:lnSpc>
                <a:spcPts val="3778"/>
              </a:lnSpc>
              <a:buFont typeface="Arial"/>
              <a:buChar char="⚬"/>
            </a:pPr>
            <a:r>
              <a:rPr lang="en-US" sz="2699">
                <a:solidFill>
                  <a:srgbClr val="0B1320"/>
                </a:solidFill>
                <a:latin typeface="Open Sans 1"/>
                <a:ea typeface="Open Sans 1"/>
                <a:cs typeface="Open Sans 1"/>
                <a:sym typeface="Open Sans 1"/>
              </a:rPr>
              <a:t>Modelo de predicción,</a:t>
            </a:r>
          </a:p>
          <a:p>
            <a:pPr algn="l" marL="617080" indent="-205693" lvl="2">
              <a:lnSpc>
                <a:spcPts val="3778"/>
              </a:lnSpc>
              <a:buFont typeface="Arial"/>
              <a:buChar char="⚬"/>
            </a:pPr>
            <a:r>
              <a:rPr lang="en-US" sz="2699">
                <a:solidFill>
                  <a:srgbClr val="0B1320"/>
                </a:solidFill>
                <a:latin typeface="Open Sans 1"/>
                <a:ea typeface="Open Sans 1"/>
                <a:cs typeface="Open Sans 1"/>
                <a:sym typeface="Open Sans 1"/>
              </a:rPr>
              <a:t>Función objetivo y</a:t>
            </a:r>
          </a:p>
          <a:p>
            <a:pPr algn="l" marL="617080" indent="-205693" lvl="2">
              <a:lnSpc>
                <a:spcPts val="3778"/>
              </a:lnSpc>
              <a:buFont typeface="Arial"/>
              <a:buChar char="⚬"/>
            </a:pPr>
            <a:r>
              <a:rPr lang="en-US" sz="2699">
                <a:solidFill>
                  <a:srgbClr val="0B1320"/>
                </a:solidFill>
                <a:latin typeface="Open Sans 1"/>
                <a:ea typeface="Open Sans 1"/>
                <a:cs typeface="Open Sans 1"/>
                <a:sym typeface="Open Sans 1"/>
              </a:rPr>
              <a:t>Obtención de la ley de control.</a:t>
            </a:r>
          </a:p>
          <a:p>
            <a:pPr algn="l" marL="617080" indent="-205693" lvl="2">
              <a:lnSpc>
                <a:spcPts val="3778"/>
              </a:lnSpc>
            </a:pPr>
          </a:p>
        </p:txBody>
      </p:sp>
      <p:sp>
        <p:nvSpPr>
          <p:cNvPr name="TextBox 14" id="14"/>
          <p:cNvSpPr txBox="true"/>
          <p:nvPr/>
        </p:nvSpPr>
        <p:spPr>
          <a:xfrm rot="0">
            <a:off x="11013578" y="3542604"/>
            <a:ext cx="5268239" cy="495316"/>
          </a:xfrm>
          <a:prstGeom prst="rect">
            <a:avLst/>
          </a:prstGeom>
        </p:spPr>
        <p:txBody>
          <a:bodyPr anchor="t" rtlCol="false" tIns="0" lIns="0" bIns="0" rIns="0">
            <a:spAutoFit/>
          </a:bodyPr>
          <a:lstStyle/>
          <a:p>
            <a:pPr algn="ctr">
              <a:lnSpc>
                <a:spcPts val="4199"/>
              </a:lnSpc>
            </a:pPr>
            <a:r>
              <a:rPr lang="en-US" sz="3000" b="true">
                <a:solidFill>
                  <a:srgbClr val="0B1320"/>
                </a:solidFill>
                <a:latin typeface="Open Sans 1 Bold"/>
                <a:ea typeface="Open Sans 1 Bold"/>
                <a:cs typeface="Open Sans 1 Bold"/>
                <a:sym typeface="Open Sans 1 Bold"/>
              </a:rPr>
              <a:t>Elementos del MPC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grpSp>
        <p:nvGrpSpPr>
          <p:cNvPr name="Group 6" id="6"/>
          <p:cNvGrpSpPr/>
          <p:nvPr/>
        </p:nvGrpSpPr>
        <p:grpSpPr>
          <a:xfrm rot="0">
            <a:off x="776595" y="4592327"/>
            <a:ext cx="6094914" cy="2994126"/>
            <a:chOff x="0" y="0"/>
            <a:chExt cx="9312280" cy="4574657"/>
          </a:xfrm>
        </p:grpSpPr>
        <p:sp>
          <p:nvSpPr>
            <p:cNvPr name="Freeform 7" id="7"/>
            <p:cNvSpPr/>
            <p:nvPr/>
          </p:nvSpPr>
          <p:spPr>
            <a:xfrm flipH="false" flipV="false" rot="0">
              <a:off x="0" y="0"/>
              <a:ext cx="9312275" cy="4574667"/>
            </a:xfrm>
            <a:custGeom>
              <a:avLst/>
              <a:gdLst/>
              <a:ahLst/>
              <a:cxnLst/>
              <a:rect r="r" b="b" t="t" l="l"/>
              <a:pathLst>
                <a:path h="4574667" w="9312275">
                  <a:moveTo>
                    <a:pt x="0" y="0"/>
                  </a:moveTo>
                  <a:lnTo>
                    <a:pt x="9312275" y="0"/>
                  </a:lnTo>
                  <a:lnTo>
                    <a:pt x="9312275" y="4574667"/>
                  </a:lnTo>
                  <a:lnTo>
                    <a:pt x="0" y="4574667"/>
                  </a:lnTo>
                  <a:lnTo>
                    <a:pt x="0" y="0"/>
                  </a:lnTo>
                  <a:close/>
                </a:path>
              </a:pathLst>
            </a:custGeom>
            <a:blipFill>
              <a:blip r:embed="rId9"/>
              <a:stretch>
                <a:fillRect l="-45" t="0" r="-45" b="0"/>
              </a:stretch>
            </a:blipFill>
          </p:spPr>
        </p:sp>
      </p:grpSp>
      <p:sp>
        <p:nvSpPr>
          <p:cNvPr name="Freeform 8" id="8"/>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144000" y="3344258"/>
            <a:ext cx="4783902" cy="661128"/>
          </a:xfrm>
          <a:custGeom>
            <a:avLst/>
            <a:gdLst/>
            <a:ahLst/>
            <a:cxnLst/>
            <a:rect r="r" b="b" t="t" l="l"/>
            <a:pathLst>
              <a:path h="661128" w="4783902">
                <a:moveTo>
                  <a:pt x="0" y="0"/>
                </a:moveTo>
                <a:lnTo>
                  <a:pt x="4783902" y="0"/>
                </a:lnTo>
                <a:lnTo>
                  <a:pt x="4783902" y="661129"/>
                </a:lnTo>
                <a:lnTo>
                  <a:pt x="0" y="661129"/>
                </a:lnTo>
                <a:lnTo>
                  <a:pt x="0" y="0"/>
                </a:lnTo>
                <a:close/>
              </a:path>
            </a:pathLst>
          </a:custGeom>
          <a:blipFill>
            <a:blip r:embed="rId10"/>
            <a:stretch>
              <a:fillRect l="-9146" t="-30870" r="-9146" b="-151599"/>
            </a:stretch>
          </a:blipFill>
        </p:spPr>
      </p:sp>
      <p:sp>
        <p:nvSpPr>
          <p:cNvPr name="Freeform 10" id="10"/>
          <p:cNvSpPr/>
          <p:nvPr/>
        </p:nvSpPr>
        <p:spPr>
          <a:xfrm flipH="false" flipV="false" rot="0">
            <a:off x="9144000" y="4008582"/>
            <a:ext cx="4783902" cy="702483"/>
          </a:xfrm>
          <a:custGeom>
            <a:avLst/>
            <a:gdLst/>
            <a:ahLst/>
            <a:cxnLst/>
            <a:rect r="r" b="b" t="t" l="l"/>
            <a:pathLst>
              <a:path h="702483" w="4783902">
                <a:moveTo>
                  <a:pt x="0" y="0"/>
                </a:moveTo>
                <a:lnTo>
                  <a:pt x="4783902" y="0"/>
                </a:lnTo>
                <a:lnTo>
                  <a:pt x="4783902" y="702483"/>
                </a:lnTo>
                <a:lnTo>
                  <a:pt x="0" y="702483"/>
                </a:lnTo>
                <a:lnTo>
                  <a:pt x="0" y="0"/>
                </a:lnTo>
                <a:close/>
              </a:path>
            </a:pathLst>
          </a:custGeom>
          <a:blipFill>
            <a:blip r:embed="rId10"/>
            <a:stretch>
              <a:fillRect l="-12526" t="-197018" r="-19640" b="0"/>
            </a:stretch>
          </a:blipFill>
        </p:spPr>
      </p:sp>
      <p:sp>
        <p:nvSpPr>
          <p:cNvPr name="Freeform 11" id="11"/>
          <p:cNvSpPr/>
          <p:nvPr/>
        </p:nvSpPr>
        <p:spPr>
          <a:xfrm flipH="false" flipV="false" rot="0">
            <a:off x="7396127" y="5569864"/>
            <a:ext cx="8426379" cy="842638"/>
          </a:xfrm>
          <a:custGeom>
            <a:avLst/>
            <a:gdLst/>
            <a:ahLst/>
            <a:cxnLst/>
            <a:rect r="r" b="b" t="t" l="l"/>
            <a:pathLst>
              <a:path h="842638" w="8426379">
                <a:moveTo>
                  <a:pt x="0" y="0"/>
                </a:moveTo>
                <a:lnTo>
                  <a:pt x="8426380" y="0"/>
                </a:lnTo>
                <a:lnTo>
                  <a:pt x="8426380" y="842638"/>
                </a:lnTo>
                <a:lnTo>
                  <a:pt x="0" y="842638"/>
                </a:lnTo>
                <a:lnTo>
                  <a:pt x="0" y="0"/>
                </a:lnTo>
                <a:close/>
              </a:path>
            </a:pathLst>
          </a:custGeom>
          <a:blipFill>
            <a:blip r:embed="rId11"/>
            <a:stretch>
              <a:fillRect l="0" t="0" r="0" b="0"/>
            </a:stretch>
          </a:blipFill>
          <a:ln w="19050" cap="sq">
            <a:solidFill>
              <a:srgbClr val="FF3131"/>
            </a:solidFill>
            <a:prstDash val="dash"/>
            <a:miter/>
          </a:ln>
        </p:spPr>
      </p:sp>
      <p:sp>
        <p:nvSpPr>
          <p:cNvPr name="Freeform 12" id="12"/>
          <p:cNvSpPr/>
          <p:nvPr/>
        </p:nvSpPr>
        <p:spPr>
          <a:xfrm flipH="false" flipV="false" rot="0">
            <a:off x="776595" y="3376161"/>
            <a:ext cx="7595734" cy="901993"/>
          </a:xfrm>
          <a:custGeom>
            <a:avLst/>
            <a:gdLst/>
            <a:ahLst/>
            <a:cxnLst/>
            <a:rect r="r" b="b" t="t" l="l"/>
            <a:pathLst>
              <a:path h="901993" w="7595734">
                <a:moveTo>
                  <a:pt x="0" y="0"/>
                </a:moveTo>
                <a:lnTo>
                  <a:pt x="7595734" y="0"/>
                </a:lnTo>
                <a:lnTo>
                  <a:pt x="7595734" y="901993"/>
                </a:lnTo>
                <a:lnTo>
                  <a:pt x="0" y="901993"/>
                </a:lnTo>
                <a:lnTo>
                  <a:pt x="0" y="0"/>
                </a:lnTo>
                <a:close/>
              </a:path>
            </a:pathLst>
          </a:custGeom>
          <a:blipFill>
            <a:blip r:embed="rId12"/>
            <a:stretch>
              <a:fillRect l="0" t="0" r="0" b="0"/>
            </a:stretch>
          </a:blipFill>
          <a:ln w="9525" cap="sq">
            <a:solidFill>
              <a:srgbClr val="000000"/>
            </a:solidFill>
            <a:prstDash val="solid"/>
            <a:miter/>
          </a:ln>
        </p:spPr>
      </p:sp>
      <p:sp>
        <p:nvSpPr>
          <p:cNvPr name="TextBox 13" id="13"/>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4" id="14"/>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5" id="15"/>
          <p:cNvSpPr txBox="true"/>
          <p:nvPr/>
        </p:nvSpPr>
        <p:spPr>
          <a:xfrm rot="0">
            <a:off x="472620" y="1778277"/>
            <a:ext cx="15940172" cy="1189355"/>
          </a:xfrm>
          <a:prstGeom prst="rect">
            <a:avLst/>
          </a:prstGeom>
        </p:spPr>
        <p:txBody>
          <a:bodyPr anchor="t" rtlCol="false" tIns="0" lIns="0" bIns="0" rIns="0">
            <a:spAutoFit/>
          </a:bodyPr>
          <a:lstStyle/>
          <a:p>
            <a:pPr algn="just">
              <a:lnSpc>
                <a:spcPts val="3220"/>
              </a:lnSpc>
            </a:pPr>
            <a:r>
              <a:rPr lang="en-US" sz="2300">
                <a:solidFill>
                  <a:srgbClr val="0B1320"/>
                </a:solidFill>
                <a:latin typeface="Open Sans 1"/>
                <a:ea typeface="Open Sans 1"/>
                <a:cs typeface="Open Sans 1"/>
                <a:sym typeface="Open Sans 1"/>
              </a:rPr>
              <a:t>Para el modelo del GPC, se utiliza una estructura de un modelo CARIMA, donde se tiene típicamente una función de transferencia junto con un termino adicional que representa algún modelo desconocido como por ejemplo una perturbación, que será una dinámica estocástica (Es algo que no sabremos como se comportará en el futuro)</a:t>
            </a:r>
          </a:p>
        </p:txBody>
      </p:sp>
      <p:sp>
        <p:nvSpPr>
          <p:cNvPr name="TextBox 16" id="16"/>
          <p:cNvSpPr txBox="true"/>
          <p:nvPr/>
        </p:nvSpPr>
        <p:spPr>
          <a:xfrm rot="0">
            <a:off x="439177" y="1140131"/>
            <a:ext cx="4298894" cy="514321"/>
          </a:xfrm>
          <a:prstGeom prst="rect">
            <a:avLst/>
          </a:prstGeom>
        </p:spPr>
        <p:txBody>
          <a:bodyPr anchor="t" rtlCol="false" tIns="0" lIns="0" bIns="0" rIns="0">
            <a:spAutoFit/>
          </a:bodyPr>
          <a:lstStyle/>
          <a:p>
            <a:pPr algn="ctr">
              <a:lnSpc>
                <a:spcPts val="4200"/>
              </a:lnSpc>
            </a:pPr>
            <a:r>
              <a:rPr lang="en-US" sz="2999" b="true">
                <a:solidFill>
                  <a:srgbClr val="0B1320"/>
                </a:solidFill>
                <a:latin typeface="Open Sans 1 Bold"/>
                <a:ea typeface="Open Sans 1 Bold"/>
                <a:cs typeface="Open Sans 1 Bold"/>
                <a:sym typeface="Open Sans 1 Bold"/>
              </a:rPr>
              <a:t>Modelo de prediccion:</a:t>
            </a:r>
          </a:p>
        </p:txBody>
      </p:sp>
      <p:sp>
        <p:nvSpPr>
          <p:cNvPr name="TextBox 17" id="17"/>
          <p:cNvSpPr txBox="true"/>
          <p:nvPr/>
        </p:nvSpPr>
        <p:spPr>
          <a:xfrm rot="0">
            <a:off x="102811" y="54207"/>
            <a:ext cx="11107108" cy="1075690"/>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2.2. Control Predictivo Generalizado (GPC) para sistemas SISO</a:t>
            </a:r>
          </a:p>
          <a:p>
            <a:pPr algn="l">
              <a:lnSpc>
                <a:spcPts val="2659"/>
              </a:lnSpc>
            </a:pPr>
          </a:p>
        </p:txBody>
      </p:sp>
      <p:sp>
        <p:nvSpPr>
          <p:cNvPr name="TextBox 18" id="18"/>
          <p:cNvSpPr txBox="true"/>
          <p:nvPr/>
        </p:nvSpPr>
        <p:spPr>
          <a:xfrm rot="0">
            <a:off x="7396127" y="4802772"/>
            <a:ext cx="4239928" cy="514350"/>
          </a:xfrm>
          <a:prstGeom prst="rect">
            <a:avLst/>
          </a:prstGeom>
        </p:spPr>
        <p:txBody>
          <a:bodyPr anchor="t" rtlCol="false" tIns="0" lIns="0" bIns="0" rIns="0">
            <a:spAutoFit/>
          </a:bodyPr>
          <a:lstStyle/>
          <a:p>
            <a:pPr algn="ctr">
              <a:lnSpc>
                <a:spcPts val="4200"/>
              </a:lnSpc>
            </a:pPr>
            <a:r>
              <a:rPr lang="en-US" sz="3000" b="true">
                <a:solidFill>
                  <a:srgbClr val="0B1320"/>
                </a:solidFill>
                <a:latin typeface="Open Sans 1 Bold"/>
                <a:ea typeface="Open Sans 1 Bold"/>
                <a:cs typeface="Open Sans 1 Bold"/>
                <a:sym typeface="Open Sans 1 Bold"/>
              </a:rPr>
              <a:t>Respuesta predecida:</a:t>
            </a:r>
          </a:p>
        </p:txBody>
      </p:sp>
      <p:sp>
        <p:nvSpPr>
          <p:cNvPr name="TextBox 19" id="19"/>
          <p:cNvSpPr txBox="true"/>
          <p:nvPr/>
        </p:nvSpPr>
        <p:spPr>
          <a:xfrm rot="0">
            <a:off x="522743" y="7929354"/>
            <a:ext cx="16915667" cy="1189355"/>
          </a:xfrm>
          <a:prstGeom prst="rect">
            <a:avLst/>
          </a:prstGeom>
        </p:spPr>
        <p:txBody>
          <a:bodyPr anchor="t" rtlCol="false" tIns="0" lIns="0" bIns="0" rIns="0">
            <a:spAutoFit/>
          </a:bodyPr>
          <a:lstStyle/>
          <a:p>
            <a:pPr algn="just">
              <a:lnSpc>
                <a:spcPts val="3220"/>
              </a:lnSpc>
            </a:pPr>
            <a:r>
              <a:rPr lang="en-US" sz="2300">
                <a:solidFill>
                  <a:srgbClr val="0B1320"/>
                </a:solidFill>
                <a:latin typeface="Open Sans 2"/>
                <a:ea typeface="Open Sans 2"/>
                <a:cs typeface="Open Sans 2"/>
                <a:sym typeface="Open Sans 2"/>
              </a:rPr>
              <a:t>Donde GJ( z-1) =  EJ( z-1)B( z-1) y y(t+j|t) rep</a:t>
            </a:r>
            <a:r>
              <a:rPr lang="en-US" sz="2300">
                <a:solidFill>
                  <a:srgbClr val="0B1320"/>
                </a:solidFill>
                <a:latin typeface="Open Sans 2"/>
                <a:ea typeface="Open Sans 2"/>
                <a:cs typeface="Open Sans 2"/>
                <a:sym typeface="Open Sans 2"/>
              </a:rPr>
              <a:t>resenta la predicción óptima a j pasos de la salida del sistema, calculada utilizando únicamente la información disponible hasta el instante t</a:t>
            </a:r>
          </a:p>
          <a:p>
            <a:pPr algn="just">
              <a:lnSpc>
                <a:spcPts val="322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84998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TextBox 6" id="6"/>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7" id="7"/>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grpSp>
        <p:nvGrpSpPr>
          <p:cNvPr name="Group 8" id="8"/>
          <p:cNvGrpSpPr/>
          <p:nvPr/>
        </p:nvGrpSpPr>
        <p:grpSpPr>
          <a:xfrm rot="0">
            <a:off x="439177" y="4909226"/>
            <a:ext cx="8704823" cy="3547216"/>
            <a:chOff x="0" y="0"/>
            <a:chExt cx="15068345" cy="6140351"/>
          </a:xfrm>
        </p:grpSpPr>
        <p:sp>
          <p:nvSpPr>
            <p:cNvPr name="Freeform 9" id="9"/>
            <p:cNvSpPr/>
            <p:nvPr/>
          </p:nvSpPr>
          <p:spPr>
            <a:xfrm flipH="false" flipV="false" rot="0">
              <a:off x="0" y="0"/>
              <a:ext cx="15068296" cy="6140323"/>
            </a:xfrm>
            <a:custGeom>
              <a:avLst/>
              <a:gdLst/>
              <a:ahLst/>
              <a:cxnLst/>
              <a:rect r="r" b="b" t="t" l="l"/>
              <a:pathLst>
                <a:path h="6140323" w="15068296">
                  <a:moveTo>
                    <a:pt x="0" y="0"/>
                  </a:moveTo>
                  <a:lnTo>
                    <a:pt x="15068296" y="0"/>
                  </a:lnTo>
                  <a:lnTo>
                    <a:pt x="15068296" y="6140323"/>
                  </a:lnTo>
                  <a:lnTo>
                    <a:pt x="0" y="6140323"/>
                  </a:lnTo>
                  <a:lnTo>
                    <a:pt x="0" y="0"/>
                  </a:lnTo>
                  <a:close/>
                </a:path>
              </a:pathLst>
            </a:custGeom>
            <a:blipFill>
              <a:blip r:embed="rId9"/>
              <a:stretch>
                <a:fillRect l="-61" t="0" r="-62" b="0"/>
              </a:stretch>
            </a:blipFill>
          </p:spPr>
        </p:sp>
      </p:grpSp>
      <p:sp>
        <p:nvSpPr>
          <p:cNvPr name="Freeform 10" id="10"/>
          <p:cNvSpPr/>
          <p:nvPr/>
        </p:nvSpPr>
        <p:spPr>
          <a:xfrm flipH="false" flipV="false" rot="0">
            <a:off x="439177" y="2637546"/>
            <a:ext cx="8381049" cy="1288586"/>
          </a:xfrm>
          <a:custGeom>
            <a:avLst/>
            <a:gdLst/>
            <a:ahLst/>
            <a:cxnLst/>
            <a:rect r="r" b="b" t="t" l="l"/>
            <a:pathLst>
              <a:path h="1288586" w="8381049">
                <a:moveTo>
                  <a:pt x="0" y="0"/>
                </a:moveTo>
                <a:lnTo>
                  <a:pt x="8381049" y="0"/>
                </a:lnTo>
                <a:lnTo>
                  <a:pt x="8381049" y="1288586"/>
                </a:lnTo>
                <a:lnTo>
                  <a:pt x="0" y="1288586"/>
                </a:lnTo>
                <a:lnTo>
                  <a:pt x="0" y="0"/>
                </a:lnTo>
                <a:close/>
              </a:path>
            </a:pathLst>
          </a:custGeom>
          <a:blipFill>
            <a:blip r:embed="rId10"/>
            <a:stretch>
              <a:fillRect l="0" t="0" r="0" b="0"/>
            </a:stretch>
          </a:blipFill>
          <a:ln w="19050" cap="sq">
            <a:solidFill>
              <a:srgbClr val="FF3131"/>
            </a:solidFill>
            <a:prstDash val="lgDash"/>
            <a:miter/>
          </a:ln>
        </p:spPr>
      </p:sp>
      <p:sp>
        <p:nvSpPr>
          <p:cNvPr name="TextBox 11" id="11"/>
          <p:cNvSpPr txBox="true"/>
          <p:nvPr/>
        </p:nvSpPr>
        <p:spPr>
          <a:xfrm rot="0">
            <a:off x="439177" y="1595446"/>
            <a:ext cx="3416525" cy="514321"/>
          </a:xfrm>
          <a:prstGeom prst="rect">
            <a:avLst/>
          </a:prstGeom>
        </p:spPr>
        <p:txBody>
          <a:bodyPr anchor="t" rtlCol="false" tIns="0" lIns="0" bIns="0" rIns="0">
            <a:spAutoFit/>
          </a:bodyPr>
          <a:lstStyle/>
          <a:p>
            <a:pPr algn="ctr">
              <a:lnSpc>
                <a:spcPts val="4200"/>
              </a:lnSpc>
            </a:pPr>
            <a:r>
              <a:rPr lang="en-US" sz="2999" b="true">
                <a:solidFill>
                  <a:srgbClr val="0B1320"/>
                </a:solidFill>
                <a:latin typeface="Open Sans 1 Bold"/>
                <a:ea typeface="Open Sans 1 Bold"/>
                <a:cs typeface="Open Sans 1 Bold"/>
                <a:sym typeface="Open Sans 1 Bold"/>
              </a:rPr>
              <a:t>Funci</a:t>
            </a:r>
            <a:r>
              <a:rPr lang="en-US" sz="2999" b="true">
                <a:solidFill>
                  <a:srgbClr val="0B1320"/>
                </a:solidFill>
                <a:latin typeface="Open Sans 1 Bold"/>
                <a:ea typeface="Open Sans 1 Bold"/>
                <a:cs typeface="Open Sans 1 Bold"/>
                <a:sym typeface="Open Sans 1 Bold"/>
              </a:rPr>
              <a:t>on de costo:</a:t>
            </a:r>
          </a:p>
        </p:txBody>
      </p:sp>
      <p:sp>
        <p:nvSpPr>
          <p:cNvPr name="Freeform 12" id="12"/>
          <p:cNvSpPr/>
          <p:nvPr/>
        </p:nvSpPr>
        <p:spPr>
          <a:xfrm flipH="false" flipV="false" rot="0">
            <a:off x="9144000" y="2109767"/>
            <a:ext cx="9092027" cy="2375292"/>
          </a:xfrm>
          <a:custGeom>
            <a:avLst/>
            <a:gdLst/>
            <a:ahLst/>
            <a:cxnLst/>
            <a:rect r="r" b="b" t="t" l="l"/>
            <a:pathLst>
              <a:path h="2375292" w="9092027">
                <a:moveTo>
                  <a:pt x="0" y="0"/>
                </a:moveTo>
                <a:lnTo>
                  <a:pt x="9092027" y="0"/>
                </a:lnTo>
                <a:lnTo>
                  <a:pt x="9092027" y="2375292"/>
                </a:lnTo>
                <a:lnTo>
                  <a:pt x="0" y="2375292"/>
                </a:lnTo>
                <a:lnTo>
                  <a:pt x="0" y="0"/>
                </a:lnTo>
                <a:close/>
              </a:path>
            </a:pathLst>
          </a:custGeom>
          <a:blipFill>
            <a:blip r:embed="rId11"/>
            <a:stretch>
              <a:fillRect l="0" t="0" r="0" b="0"/>
            </a:stretch>
          </a:blipFill>
        </p:spPr>
      </p:sp>
      <p:sp>
        <p:nvSpPr>
          <p:cNvPr name="Freeform 13" id="13"/>
          <p:cNvSpPr/>
          <p:nvPr/>
        </p:nvSpPr>
        <p:spPr>
          <a:xfrm flipH="false" flipV="false" rot="0">
            <a:off x="9450489" y="5783702"/>
            <a:ext cx="2739775" cy="899133"/>
          </a:xfrm>
          <a:custGeom>
            <a:avLst/>
            <a:gdLst/>
            <a:ahLst/>
            <a:cxnLst/>
            <a:rect r="r" b="b" t="t" l="l"/>
            <a:pathLst>
              <a:path h="899133" w="2739775">
                <a:moveTo>
                  <a:pt x="0" y="0"/>
                </a:moveTo>
                <a:lnTo>
                  <a:pt x="2739775" y="0"/>
                </a:lnTo>
                <a:lnTo>
                  <a:pt x="2739775" y="899132"/>
                </a:lnTo>
                <a:lnTo>
                  <a:pt x="0" y="899132"/>
                </a:lnTo>
                <a:lnTo>
                  <a:pt x="0" y="0"/>
                </a:lnTo>
                <a:close/>
              </a:path>
            </a:pathLst>
          </a:custGeom>
          <a:blipFill>
            <a:blip r:embed="rId12"/>
            <a:stretch>
              <a:fillRect l="0" t="-41316" r="0" b="0"/>
            </a:stretch>
          </a:blipFill>
        </p:spPr>
      </p:sp>
      <p:sp>
        <p:nvSpPr>
          <p:cNvPr name="Freeform 14" id="14"/>
          <p:cNvSpPr/>
          <p:nvPr/>
        </p:nvSpPr>
        <p:spPr>
          <a:xfrm flipH="false" flipV="false" rot="0">
            <a:off x="9450489" y="7092409"/>
            <a:ext cx="8178498" cy="821359"/>
          </a:xfrm>
          <a:custGeom>
            <a:avLst/>
            <a:gdLst/>
            <a:ahLst/>
            <a:cxnLst/>
            <a:rect r="r" b="b" t="t" l="l"/>
            <a:pathLst>
              <a:path h="821359" w="8178498">
                <a:moveTo>
                  <a:pt x="0" y="0"/>
                </a:moveTo>
                <a:lnTo>
                  <a:pt x="8178498" y="0"/>
                </a:lnTo>
                <a:lnTo>
                  <a:pt x="8178498" y="821359"/>
                </a:lnTo>
                <a:lnTo>
                  <a:pt x="0" y="821359"/>
                </a:lnTo>
                <a:lnTo>
                  <a:pt x="0" y="0"/>
                </a:lnTo>
                <a:close/>
              </a:path>
            </a:pathLst>
          </a:custGeom>
          <a:blipFill>
            <a:blip r:embed="rId13"/>
            <a:stretch>
              <a:fillRect l="0" t="-56593" r="0" b="0"/>
            </a:stretch>
          </a:blipFill>
          <a:ln w="19050" cap="sq">
            <a:solidFill>
              <a:srgbClr val="FF3131"/>
            </a:solidFill>
            <a:prstDash val="lgDash"/>
            <a:miter/>
          </a:ln>
        </p:spPr>
      </p:sp>
      <p:sp>
        <p:nvSpPr>
          <p:cNvPr name="TextBox 15" id="15"/>
          <p:cNvSpPr txBox="true"/>
          <p:nvPr/>
        </p:nvSpPr>
        <p:spPr>
          <a:xfrm rot="0">
            <a:off x="9450489" y="4857764"/>
            <a:ext cx="2996350" cy="514321"/>
          </a:xfrm>
          <a:prstGeom prst="rect">
            <a:avLst/>
          </a:prstGeom>
        </p:spPr>
        <p:txBody>
          <a:bodyPr anchor="t" rtlCol="false" tIns="0" lIns="0" bIns="0" rIns="0">
            <a:spAutoFit/>
          </a:bodyPr>
          <a:lstStyle/>
          <a:p>
            <a:pPr algn="ctr">
              <a:lnSpc>
                <a:spcPts val="4200"/>
              </a:lnSpc>
            </a:pPr>
            <a:r>
              <a:rPr lang="en-US" sz="2999" b="true">
                <a:solidFill>
                  <a:srgbClr val="0B1320"/>
                </a:solidFill>
                <a:latin typeface="Open Sans 1 Bold"/>
                <a:ea typeface="Open Sans 1 Bold"/>
                <a:cs typeface="Open Sans 1 Bold"/>
                <a:sym typeface="Open Sans 1 Bold"/>
              </a:rPr>
              <a:t> Ley</a:t>
            </a:r>
            <a:r>
              <a:rPr lang="en-US" sz="2999" b="true">
                <a:solidFill>
                  <a:srgbClr val="0B1320"/>
                </a:solidFill>
                <a:latin typeface="Open Sans 1 Bold"/>
                <a:ea typeface="Open Sans 1 Bold"/>
                <a:cs typeface="Open Sans 1 Bold"/>
                <a:sym typeface="Open Sans 1 Bold"/>
              </a:rPr>
              <a:t> de control:</a:t>
            </a:r>
          </a:p>
        </p:txBody>
      </p:sp>
      <p:sp>
        <p:nvSpPr>
          <p:cNvPr name="Freeform 16" id="1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02811" y="54207"/>
            <a:ext cx="11107108" cy="1075690"/>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2.2. Control Predictivo Generalizado (GPC) para sistemas SISO</a:t>
            </a:r>
          </a:p>
          <a:p>
            <a:pPr algn="l">
              <a:lnSpc>
                <a:spcPts val="2659"/>
              </a:lnSpc>
            </a:pPr>
            <a:r>
              <a:rPr lang="en-US" b="true" sz="1899">
                <a:solidFill>
                  <a:srgbClr val="FFFFFF"/>
                </a:solidFill>
                <a:latin typeface="Times New Roman Bold"/>
                <a:ea typeface="Times New Roman Bold"/>
                <a:cs typeface="Times New Roman Bold"/>
                <a:sym typeface="Times New Roman Bold"/>
              </a:rPr>
              <a:t> para sistemas SISO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84998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64863" y="2007292"/>
            <a:ext cx="7913152" cy="1266104"/>
          </a:xfrm>
          <a:custGeom>
            <a:avLst/>
            <a:gdLst/>
            <a:ahLst/>
            <a:cxnLst/>
            <a:rect r="r" b="b" t="t" l="l"/>
            <a:pathLst>
              <a:path h="1266104" w="7913152">
                <a:moveTo>
                  <a:pt x="0" y="0"/>
                </a:moveTo>
                <a:lnTo>
                  <a:pt x="7913152" y="0"/>
                </a:lnTo>
                <a:lnTo>
                  <a:pt x="7913152" y="1266105"/>
                </a:lnTo>
                <a:lnTo>
                  <a:pt x="0" y="1266105"/>
                </a:lnTo>
                <a:lnTo>
                  <a:pt x="0" y="0"/>
                </a:lnTo>
                <a:close/>
              </a:path>
            </a:pathLst>
          </a:custGeom>
          <a:blipFill>
            <a:blip r:embed="rId9"/>
            <a:stretch>
              <a:fillRect l="0" t="0" r="0" b="0"/>
            </a:stretch>
          </a:blipFill>
          <a:ln w="19050" cap="sq">
            <a:solidFill>
              <a:srgbClr val="FF3131"/>
            </a:solidFill>
            <a:prstDash val="lgDash"/>
            <a:miter/>
          </a:ln>
        </p:spPr>
      </p:sp>
      <p:sp>
        <p:nvSpPr>
          <p:cNvPr name="Freeform 8" id="8"/>
          <p:cNvSpPr/>
          <p:nvPr/>
        </p:nvSpPr>
        <p:spPr>
          <a:xfrm flipH="false" flipV="false" rot="0">
            <a:off x="610290" y="4816418"/>
            <a:ext cx="10329395" cy="1252439"/>
          </a:xfrm>
          <a:custGeom>
            <a:avLst/>
            <a:gdLst/>
            <a:ahLst/>
            <a:cxnLst/>
            <a:rect r="r" b="b" t="t" l="l"/>
            <a:pathLst>
              <a:path h="1252439" w="10329395">
                <a:moveTo>
                  <a:pt x="0" y="0"/>
                </a:moveTo>
                <a:lnTo>
                  <a:pt x="10329395" y="0"/>
                </a:lnTo>
                <a:lnTo>
                  <a:pt x="10329395" y="1252439"/>
                </a:lnTo>
                <a:lnTo>
                  <a:pt x="0" y="1252439"/>
                </a:lnTo>
                <a:lnTo>
                  <a:pt x="0" y="0"/>
                </a:lnTo>
                <a:close/>
              </a:path>
            </a:pathLst>
          </a:custGeom>
          <a:blipFill>
            <a:blip r:embed="rId10"/>
            <a:stretch>
              <a:fillRect l="0" t="0" r="0" b="0"/>
            </a:stretch>
          </a:blipFill>
          <a:ln w="19050" cap="sq">
            <a:solidFill>
              <a:srgbClr val="FF3131"/>
            </a:solidFill>
            <a:prstDash val="lgDash"/>
            <a:miter/>
          </a:ln>
        </p:spPr>
      </p:sp>
      <p:sp>
        <p:nvSpPr>
          <p:cNvPr name="Freeform 9" id="9"/>
          <p:cNvSpPr/>
          <p:nvPr/>
        </p:nvSpPr>
        <p:spPr>
          <a:xfrm flipH="false" flipV="false" rot="0">
            <a:off x="664863" y="7611878"/>
            <a:ext cx="6922693" cy="908603"/>
          </a:xfrm>
          <a:custGeom>
            <a:avLst/>
            <a:gdLst/>
            <a:ahLst/>
            <a:cxnLst/>
            <a:rect r="r" b="b" t="t" l="l"/>
            <a:pathLst>
              <a:path h="908603" w="6922693">
                <a:moveTo>
                  <a:pt x="0" y="0"/>
                </a:moveTo>
                <a:lnTo>
                  <a:pt x="6922694" y="0"/>
                </a:lnTo>
                <a:lnTo>
                  <a:pt x="6922694" y="908603"/>
                </a:lnTo>
                <a:lnTo>
                  <a:pt x="0" y="908603"/>
                </a:lnTo>
                <a:lnTo>
                  <a:pt x="0" y="0"/>
                </a:lnTo>
                <a:close/>
              </a:path>
            </a:pathLst>
          </a:custGeom>
          <a:blipFill>
            <a:blip r:embed="rId11"/>
            <a:stretch>
              <a:fillRect l="0" t="0" r="0" b="0"/>
            </a:stretch>
          </a:blipFill>
          <a:ln w="19050" cap="sq">
            <a:solidFill>
              <a:srgbClr val="FF3131"/>
            </a:solidFill>
            <a:prstDash val="lgDash"/>
            <a:miter/>
          </a:ln>
        </p:spPr>
      </p:sp>
      <p:sp>
        <p:nvSpPr>
          <p:cNvPr name="TextBox 10" id="10"/>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1" id="11"/>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2" id="12"/>
          <p:cNvSpPr txBox="true"/>
          <p:nvPr/>
        </p:nvSpPr>
        <p:spPr>
          <a:xfrm rot="0">
            <a:off x="709685" y="4092547"/>
            <a:ext cx="3416525" cy="514321"/>
          </a:xfrm>
          <a:prstGeom prst="rect">
            <a:avLst/>
          </a:prstGeom>
        </p:spPr>
        <p:txBody>
          <a:bodyPr anchor="t" rtlCol="false" tIns="0" lIns="0" bIns="0" rIns="0">
            <a:spAutoFit/>
          </a:bodyPr>
          <a:lstStyle/>
          <a:p>
            <a:pPr algn="ctr">
              <a:lnSpc>
                <a:spcPts val="4200"/>
              </a:lnSpc>
            </a:pPr>
            <a:r>
              <a:rPr lang="en-US" sz="2999" b="true">
                <a:solidFill>
                  <a:srgbClr val="0B1320"/>
                </a:solidFill>
                <a:latin typeface="Open Sans 1 Bold"/>
                <a:ea typeface="Open Sans 1 Bold"/>
                <a:cs typeface="Open Sans 1 Bold"/>
                <a:sym typeface="Open Sans 1 Bold"/>
              </a:rPr>
              <a:t>Funci</a:t>
            </a:r>
            <a:r>
              <a:rPr lang="en-US" sz="2999" b="true">
                <a:solidFill>
                  <a:srgbClr val="0B1320"/>
                </a:solidFill>
                <a:latin typeface="Open Sans 1 Bold"/>
                <a:ea typeface="Open Sans 1 Bold"/>
                <a:cs typeface="Open Sans 1 Bold"/>
                <a:sym typeface="Open Sans 1 Bold"/>
              </a:rPr>
              <a:t>on de costo:</a:t>
            </a:r>
          </a:p>
        </p:txBody>
      </p:sp>
      <p:sp>
        <p:nvSpPr>
          <p:cNvPr name="TextBox 13" id="13"/>
          <p:cNvSpPr txBox="true"/>
          <p:nvPr/>
        </p:nvSpPr>
        <p:spPr>
          <a:xfrm rot="0">
            <a:off x="664863" y="6888007"/>
            <a:ext cx="2996350" cy="514321"/>
          </a:xfrm>
          <a:prstGeom prst="rect">
            <a:avLst/>
          </a:prstGeom>
        </p:spPr>
        <p:txBody>
          <a:bodyPr anchor="t" rtlCol="false" tIns="0" lIns="0" bIns="0" rIns="0">
            <a:spAutoFit/>
          </a:bodyPr>
          <a:lstStyle/>
          <a:p>
            <a:pPr algn="ctr">
              <a:lnSpc>
                <a:spcPts val="4200"/>
              </a:lnSpc>
            </a:pPr>
            <a:r>
              <a:rPr lang="en-US" sz="2999" b="true">
                <a:solidFill>
                  <a:srgbClr val="0B1320"/>
                </a:solidFill>
                <a:latin typeface="Open Sans 1 Bold"/>
                <a:ea typeface="Open Sans 1 Bold"/>
                <a:cs typeface="Open Sans 1 Bold"/>
                <a:sym typeface="Open Sans 1 Bold"/>
              </a:rPr>
              <a:t> Ley</a:t>
            </a:r>
            <a:r>
              <a:rPr lang="en-US" sz="2999" b="true">
                <a:solidFill>
                  <a:srgbClr val="0B1320"/>
                </a:solidFill>
                <a:latin typeface="Open Sans 1 Bold"/>
                <a:ea typeface="Open Sans 1 Bold"/>
                <a:cs typeface="Open Sans 1 Bold"/>
                <a:sym typeface="Open Sans 1 Bold"/>
              </a:rPr>
              <a:t> de control:</a:t>
            </a:r>
          </a:p>
        </p:txBody>
      </p:sp>
      <p:sp>
        <p:nvSpPr>
          <p:cNvPr name="TextBox 14" id="14"/>
          <p:cNvSpPr txBox="true"/>
          <p:nvPr/>
        </p:nvSpPr>
        <p:spPr>
          <a:xfrm rot="0">
            <a:off x="102811" y="54207"/>
            <a:ext cx="11107108" cy="1075690"/>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2.2. Control Predictivo Generalizado (GPC) para sistemas MIMO</a:t>
            </a:r>
          </a:p>
          <a:p>
            <a:pPr algn="l">
              <a:lnSpc>
                <a:spcPts val="2659"/>
              </a:lnSpc>
            </a:pPr>
            <a:r>
              <a:rPr lang="en-US" b="true" sz="1899">
                <a:solidFill>
                  <a:srgbClr val="FFFFFF"/>
                </a:solidFill>
                <a:latin typeface="Times New Roman Bold"/>
                <a:ea typeface="Times New Roman Bold"/>
                <a:cs typeface="Times New Roman Bold"/>
                <a:sym typeface="Times New Roman Bold"/>
              </a:rPr>
              <a:t> para sistemas SISO</a:t>
            </a:r>
          </a:p>
        </p:txBody>
      </p:sp>
      <p:sp>
        <p:nvSpPr>
          <p:cNvPr name="TextBox 15" id="15"/>
          <p:cNvSpPr txBox="true"/>
          <p:nvPr/>
        </p:nvSpPr>
        <p:spPr>
          <a:xfrm rot="0">
            <a:off x="610290" y="1283392"/>
            <a:ext cx="4239928" cy="514350"/>
          </a:xfrm>
          <a:prstGeom prst="rect">
            <a:avLst/>
          </a:prstGeom>
        </p:spPr>
        <p:txBody>
          <a:bodyPr anchor="t" rtlCol="false" tIns="0" lIns="0" bIns="0" rIns="0">
            <a:spAutoFit/>
          </a:bodyPr>
          <a:lstStyle/>
          <a:p>
            <a:pPr algn="ctr">
              <a:lnSpc>
                <a:spcPts val="4200"/>
              </a:lnSpc>
            </a:pPr>
            <a:r>
              <a:rPr lang="en-US" sz="3000" b="true">
                <a:solidFill>
                  <a:srgbClr val="0B1320"/>
                </a:solidFill>
                <a:latin typeface="Open Sans 1 Bold"/>
                <a:ea typeface="Open Sans 1 Bold"/>
                <a:cs typeface="Open Sans 1 Bold"/>
                <a:sym typeface="Open Sans 1 Bold"/>
              </a:rPr>
              <a:t>Respuesta predecida: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TextBox 6" id="6"/>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7" id="7"/>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Freeform 8" id="8"/>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02811" y="54207"/>
            <a:ext cx="11107108" cy="140906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2.3. Modelamiento del sistema de cuatro tanques acoplados</a:t>
            </a:r>
          </a:p>
          <a:p>
            <a:pPr algn="l">
              <a:lnSpc>
                <a:spcPts val="2659"/>
              </a:lnSpc>
            </a:pPr>
          </a:p>
          <a:p>
            <a:pPr algn="l">
              <a:lnSpc>
                <a:spcPts val="2659"/>
              </a:lnSpc>
            </a:pPr>
          </a:p>
        </p:txBody>
      </p:sp>
      <p:grpSp>
        <p:nvGrpSpPr>
          <p:cNvPr name="Group 10" id="10"/>
          <p:cNvGrpSpPr/>
          <p:nvPr/>
        </p:nvGrpSpPr>
        <p:grpSpPr>
          <a:xfrm rot="0">
            <a:off x="1348139" y="994253"/>
            <a:ext cx="5698018" cy="8089833"/>
            <a:chOff x="0" y="0"/>
            <a:chExt cx="7374721" cy="10470352"/>
          </a:xfrm>
        </p:grpSpPr>
        <p:sp>
          <p:nvSpPr>
            <p:cNvPr name="Freeform 11" id="11"/>
            <p:cNvSpPr/>
            <p:nvPr/>
          </p:nvSpPr>
          <p:spPr>
            <a:xfrm flipH="false" flipV="false" rot="0">
              <a:off x="0" y="0"/>
              <a:ext cx="7374745" cy="10470389"/>
            </a:xfrm>
            <a:custGeom>
              <a:avLst/>
              <a:gdLst/>
              <a:ahLst/>
              <a:cxnLst/>
              <a:rect r="r" b="b" t="t" l="l"/>
              <a:pathLst>
                <a:path h="10470389" w="7374745">
                  <a:moveTo>
                    <a:pt x="0" y="0"/>
                  </a:moveTo>
                  <a:lnTo>
                    <a:pt x="7374745" y="0"/>
                  </a:lnTo>
                  <a:lnTo>
                    <a:pt x="7374745" y="10470389"/>
                  </a:lnTo>
                  <a:lnTo>
                    <a:pt x="0" y="10470389"/>
                  </a:lnTo>
                  <a:lnTo>
                    <a:pt x="0" y="0"/>
                  </a:lnTo>
                  <a:close/>
                </a:path>
              </a:pathLst>
            </a:custGeom>
            <a:blipFill>
              <a:blip r:embed="rId9"/>
              <a:stretch>
                <a:fillRect l="-2014" t="0" r="-2014" b="0"/>
              </a:stretch>
            </a:blipFill>
          </p:spPr>
        </p:sp>
      </p:grpSp>
      <p:sp>
        <p:nvSpPr>
          <p:cNvPr name="Freeform 12" id="12"/>
          <p:cNvSpPr/>
          <p:nvPr/>
        </p:nvSpPr>
        <p:spPr>
          <a:xfrm flipH="false" flipV="false" rot="0">
            <a:off x="8835572" y="1575544"/>
            <a:ext cx="8010895" cy="6959465"/>
          </a:xfrm>
          <a:custGeom>
            <a:avLst/>
            <a:gdLst/>
            <a:ahLst/>
            <a:cxnLst/>
            <a:rect r="r" b="b" t="t" l="l"/>
            <a:pathLst>
              <a:path h="6959465" w="8010895">
                <a:moveTo>
                  <a:pt x="0" y="0"/>
                </a:moveTo>
                <a:lnTo>
                  <a:pt x="8010895" y="0"/>
                </a:lnTo>
                <a:lnTo>
                  <a:pt x="8010895" y="6959465"/>
                </a:lnTo>
                <a:lnTo>
                  <a:pt x="0" y="6959465"/>
                </a:lnTo>
                <a:lnTo>
                  <a:pt x="0" y="0"/>
                </a:lnTo>
                <a:close/>
              </a:path>
            </a:pathLst>
          </a:custGeom>
          <a:blipFill>
            <a:blip r:embed="rId10"/>
            <a:stretch>
              <a:fillRect l="0" t="0" r="0" b="0"/>
            </a:stretch>
          </a:blipFill>
        </p:spPr>
      </p:sp>
      <p:sp>
        <p:nvSpPr>
          <p:cNvPr name="TextBox 13" id="13"/>
          <p:cNvSpPr txBox="true"/>
          <p:nvPr/>
        </p:nvSpPr>
        <p:spPr>
          <a:xfrm rot="0">
            <a:off x="2044337" y="9168287"/>
            <a:ext cx="4029803"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Fig.17. Diagrama P&amp;ID del sistema de 4 tanques acoplados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TextBox 6" id="6"/>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7" id="7"/>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grpSp>
        <p:nvGrpSpPr>
          <p:cNvPr name="Group 8" id="8"/>
          <p:cNvGrpSpPr/>
          <p:nvPr/>
        </p:nvGrpSpPr>
        <p:grpSpPr>
          <a:xfrm rot="0">
            <a:off x="1428448" y="1857747"/>
            <a:ext cx="5648116" cy="6395058"/>
            <a:chOff x="0" y="0"/>
            <a:chExt cx="7530821" cy="8526744"/>
          </a:xfrm>
        </p:grpSpPr>
        <p:sp>
          <p:nvSpPr>
            <p:cNvPr name="Freeform 9" id="9"/>
            <p:cNvSpPr/>
            <p:nvPr/>
          </p:nvSpPr>
          <p:spPr>
            <a:xfrm flipH="false" flipV="false" rot="0">
              <a:off x="25400" y="25400"/>
              <a:ext cx="7480046" cy="8475980"/>
            </a:xfrm>
            <a:custGeom>
              <a:avLst/>
              <a:gdLst/>
              <a:ahLst/>
              <a:cxnLst/>
              <a:rect r="r" b="b" t="t" l="l"/>
              <a:pathLst>
                <a:path h="8475980" w="7480046">
                  <a:moveTo>
                    <a:pt x="0" y="0"/>
                  </a:moveTo>
                  <a:lnTo>
                    <a:pt x="7480046" y="0"/>
                  </a:lnTo>
                  <a:lnTo>
                    <a:pt x="7480046" y="8475980"/>
                  </a:lnTo>
                  <a:lnTo>
                    <a:pt x="0" y="8475980"/>
                  </a:lnTo>
                  <a:lnTo>
                    <a:pt x="0" y="0"/>
                  </a:lnTo>
                  <a:close/>
                </a:path>
              </a:pathLst>
            </a:custGeom>
            <a:blipFill>
              <a:blip r:embed="rId9"/>
              <a:stretch>
                <a:fillRect l="0" t="-2529" r="0" b="-2529"/>
              </a:stretch>
            </a:blipFill>
          </p:spPr>
        </p:sp>
        <p:sp>
          <p:nvSpPr>
            <p:cNvPr name="Freeform 10" id="10"/>
            <p:cNvSpPr/>
            <p:nvPr/>
          </p:nvSpPr>
          <p:spPr>
            <a:xfrm flipH="false" flipV="false" rot="0">
              <a:off x="0" y="0"/>
              <a:ext cx="7530846" cy="8526780"/>
            </a:xfrm>
            <a:custGeom>
              <a:avLst/>
              <a:gdLst/>
              <a:ahLst/>
              <a:cxnLst/>
              <a:rect r="r" b="b" t="t" l="l"/>
              <a:pathLst>
                <a:path h="8526780" w="7530846">
                  <a:moveTo>
                    <a:pt x="25400" y="0"/>
                  </a:moveTo>
                  <a:lnTo>
                    <a:pt x="7505446" y="0"/>
                  </a:lnTo>
                  <a:cubicBezTo>
                    <a:pt x="7519415" y="0"/>
                    <a:pt x="7530846" y="11430"/>
                    <a:pt x="7530846" y="25400"/>
                  </a:cubicBezTo>
                  <a:lnTo>
                    <a:pt x="7530846" y="8501380"/>
                  </a:lnTo>
                  <a:cubicBezTo>
                    <a:pt x="7530846" y="8515350"/>
                    <a:pt x="7519415" y="8526780"/>
                    <a:pt x="7505446" y="8526780"/>
                  </a:cubicBezTo>
                  <a:lnTo>
                    <a:pt x="25400" y="8526780"/>
                  </a:lnTo>
                  <a:cubicBezTo>
                    <a:pt x="11430" y="8526780"/>
                    <a:pt x="0" y="8515350"/>
                    <a:pt x="0" y="8501380"/>
                  </a:cubicBezTo>
                  <a:lnTo>
                    <a:pt x="0" y="25400"/>
                  </a:lnTo>
                  <a:cubicBezTo>
                    <a:pt x="0" y="11430"/>
                    <a:pt x="11430" y="0"/>
                    <a:pt x="25400" y="0"/>
                  </a:cubicBezTo>
                  <a:moveTo>
                    <a:pt x="25400" y="50800"/>
                  </a:moveTo>
                  <a:lnTo>
                    <a:pt x="25400" y="25400"/>
                  </a:lnTo>
                  <a:lnTo>
                    <a:pt x="50800" y="25400"/>
                  </a:lnTo>
                  <a:lnTo>
                    <a:pt x="50800" y="8501380"/>
                  </a:lnTo>
                  <a:lnTo>
                    <a:pt x="25400" y="8501380"/>
                  </a:lnTo>
                  <a:lnTo>
                    <a:pt x="25400" y="8475980"/>
                  </a:lnTo>
                  <a:lnTo>
                    <a:pt x="7505446" y="8475980"/>
                  </a:lnTo>
                  <a:lnTo>
                    <a:pt x="7505446" y="8501380"/>
                  </a:lnTo>
                  <a:lnTo>
                    <a:pt x="7480046" y="8501380"/>
                  </a:lnTo>
                  <a:lnTo>
                    <a:pt x="7480046" y="25400"/>
                  </a:lnTo>
                  <a:lnTo>
                    <a:pt x="7505446" y="25400"/>
                  </a:lnTo>
                  <a:lnTo>
                    <a:pt x="7505446" y="50800"/>
                  </a:lnTo>
                  <a:lnTo>
                    <a:pt x="25400" y="50800"/>
                  </a:lnTo>
                  <a:close/>
                </a:path>
              </a:pathLst>
            </a:custGeom>
            <a:solidFill>
              <a:srgbClr val="000000"/>
            </a:solidFill>
          </p:spPr>
        </p:sp>
      </p:grpSp>
      <p:grpSp>
        <p:nvGrpSpPr>
          <p:cNvPr name="Group 11" id="11"/>
          <p:cNvGrpSpPr/>
          <p:nvPr/>
        </p:nvGrpSpPr>
        <p:grpSpPr>
          <a:xfrm rot="0">
            <a:off x="8118477" y="1857747"/>
            <a:ext cx="8528194" cy="6395058"/>
            <a:chOff x="0" y="0"/>
            <a:chExt cx="11370925" cy="8526744"/>
          </a:xfrm>
        </p:grpSpPr>
        <p:sp>
          <p:nvSpPr>
            <p:cNvPr name="Freeform 12" id="12"/>
            <p:cNvSpPr/>
            <p:nvPr/>
          </p:nvSpPr>
          <p:spPr>
            <a:xfrm flipH="false" flipV="false" rot="0">
              <a:off x="25400" y="25400"/>
              <a:ext cx="11320145" cy="8475980"/>
            </a:xfrm>
            <a:custGeom>
              <a:avLst/>
              <a:gdLst/>
              <a:ahLst/>
              <a:cxnLst/>
              <a:rect r="r" b="b" t="t" l="l"/>
              <a:pathLst>
                <a:path h="8475980" w="11320145">
                  <a:moveTo>
                    <a:pt x="0" y="0"/>
                  </a:moveTo>
                  <a:lnTo>
                    <a:pt x="11320145" y="0"/>
                  </a:lnTo>
                  <a:lnTo>
                    <a:pt x="11320145" y="8475980"/>
                  </a:lnTo>
                  <a:lnTo>
                    <a:pt x="0" y="8475980"/>
                  </a:lnTo>
                  <a:lnTo>
                    <a:pt x="0" y="0"/>
                  </a:lnTo>
                  <a:close/>
                </a:path>
              </a:pathLst>
            </a:custGeom>
            <a:blipFill>
              <a:blip r:embed="rId10"/>
              <a:stretch>
                <a:fillRect l="-345" t="-299" r="-345" b="-299"/>
              </a:stretch>
            </a:blipFill>
          </p:spPr>
        </p:sp>
        <p:sp>
          <p:nvSpPr>
            <p:cNvPr name="Freeform 13" id="13"/>
            <p:cNvSpPr/>
            <p:nvPr/>
          </p:nvSpPr>
          <p:spPr>
            <a:xfrm flipH="false" flipV="false" rot="0">
              <a:off x="0" y="0"/>
              <a:ext cx="11370945" cy="8526780"/>
            </a:xfrm>
            <a:custGeom>
              <a:avLst/>
              <a:gdLst/>
              <a:ahLst/>
              <a:cxnLst/>
              <a:rect r="r" b="b" t="t" l="l"/>
              <a:pathLst>
                <a:path h="8526780" w="11370945">
                  <a:moveTo>
                    <a:pt x="25400" y="0"/>
                  </a:moveTo>
                  <a:lnTo>
                    <a:pt x="11345545" y="0"/>
                  </a:lnTo>
                  <a:cubicBezTo>
                    <a:pt x="11359514" y="0"/>
                    <a:pt x="11370945" y="11430"/>
                    <a:pt x="11370945" y="25400"/>
                  </a:cubicBezTo>
                  <a:lnTo>
                    <a:pt x="11370945" y="8501380"/>
                  </a:lnTo>
                  <a:cubicBezTo>
                    <a:pt x="11370945" y="8515350"/>
                    <a:pt x="11359514" y="8526780"/>
                    <a:pt x="11345545" y="8526780"/>
                  </a:cubicBezTo>
                  <a:lnTo>
                    <a:pt x="25400" y="8526780"/>
                  </a:lnTo>
                  <a:cubicBezTo>
                    <a:pt x="11430" y="8526780"/>
                    <a:pt x="0" y="8515350"/>
                    <a:pt x="0" y="8501380"/>
                  </a:cubicBezTo>
                  <a:lnTo>
                    <a:pt x="0" y="25400"/>
                  </a:lnTo>
                  <a:cubicBezTo>
                    <a:pt x="0" y="11430"/>
                    <a:pt x="11430" y="0"/>
                    <a:pt x="25400" y="0"/>
                  </a:cubicBezTo>
                  <a:moveTo>
                    <a:pt x="25400" y="50800"/>
                  </a:moveTo>
                  <a:lnTo>
                    <a:pt x="25400" y="25400"/>
                  </a:lnTo>
                  <a:lnTo>
                    <a:pt x="50800" y="25400"/>
                  </a:lnTo>
                  <a:lnTo>
                    <a:pt x="50800" y="8501380"/>
                  </a:lnTo>
                  <a:lnTo>
                    <a:pt x="25400" y="8501380"/>
                  </a:lnTo>
                  <a:lnTo>
                    <a:pt x="25400" y="8475980"/>
                  </a:lnTo>
                  <a:lnTo>
                    <a:pt x="11345545" y="8475980"/>
                  </a:lnTo>
                  <a:lnTo>
                    <a:pt x="11345545" y="8501380"/>
                  </a:lnTo>
                  <a:lnTo>
                    <a:pt x="11320145" y="8501380"/>
                  </a:lnTo>
                  <a:lnTo>
                    <a:pt x="11320145" y="25400"/>
                  </a:lnTo>
                  <a:lnTo>
                    <a:pt x="11345545" y="25400"/>
                  </a:lnTo>
                  <a:lnTo>
                    <a:pt x="11345545" y="50800"/>
                  </a:lnTo>
                  <a:lnTo>
                    <a:pt x="25400" y="50800"/>
                  </a:lnTo>
                  <a:close/>
                </a:path>
              </a:pathLst>
            </a:custGeom>
            <a:solidFill>
              <a:srgbClr val="000000"/>
            </a:solidFill>
          </p:spPr>
        </p:sp>
      </p:grpSp>
      <p:sp>
        <p:nvSpPr>
          <p:cNvPr name="TextBox 14" id="14"/>
          <p:cNvSpPr txBox="true"/>
          <p:nvPr/>
        </p:nvSpPr>
        <p:spPr>
          <a:xfrm rot="0">
            <a:off x="2449602" y="8370750"/>
            <a:ext cx="3605808" cy="181610"/>
          </a:xfrm>
          <a:prstGeom prst="rect">
            <a:avLst/>
          </a:prstGeom>
        </p:spPr>
        <p:txBody>
          <a:bodyPr anchor="t" rtlCol="false" tIns="0" lIns="0" bIns="0" rIns="0">
            <a:spAutoFit/>
          </a:bodyPr>
          <a:lstStyle/>
          <a:p>
            <a:pPr algn="ctr">
              <a:lnSpc>
                <a:spcPts val="1540"/>
              </a:lnSpc>
            </a:pPr>
            <a:r>
              <a:rPr lang="en-US" sz="1100" b="true">
                <a:solidFill>
                  <a:srgbClr val="0B1320"/>
                </a:solidFill>
                <a:latin typeface="Open Sans 1 Bold"/>
                <a:ea typeface="Open Sans 1 Bold"/>
                <a:cs typeface="Open Sans 1 Bold"/>
                <a:sym typeface="Open Sans 1 Bold"/>
              </a:rPr>
              <a:t>Fig.18. Esquema del sistema de 4 tanques acoplados</a:t>
            </a:r>
          </a:p>
        </p:txBody>
      </p:sp>
      <p:sp>
        <p:nvSpPr>
          <p:cNvPr name="Freeform 15" id="15"/>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2811" y="54207"/>
            <a:ext cx="11107108" cy="140906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2.3. Modelamiento del sistema de cuatro tanques acoplados</a:t>
            </a:r>
          </a:p>
          <a:p>
            <a:pPr algn="l">
              <a:lnSpc>
                <a:spcPts val="2659"/>
              </a:lnSpc>
            </a:pPr>
          </a:p>
          <a:p>
            <a:pPr algn="l">
              <a:lnSpc>
                <a:spcPts val="2659"/>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TextBox 6" id="6"/>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7" id="7"/>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grpSp>
        <p:nvGrpSpPr>
          <p:cNvPr name="Group 8" id="8"/>
          <p:cNvGrpSpPr/>
          <p:nvPr/>
        </p:nvGrpSpPr>
        <p:grpSpPr>
          <a:xfrm rot="0">
            <a:off x="1028700" y="1321911"/>
            <a:ext cx="7455412" cy="3821589"/>
            <a:chOff x="0" y="0"/>
            <a:chExt cx="9940549" cy="5095452"/>
          </a:xfrm>
        </p:grpSpPr>
        <p:sp>
          <p:nvSpPr>
            <p:cNvPr name="Freeform 9" id="9"/>
            <p:cNvSpPr/>
            <p:nvPr/>
          </p:nvSpPr>
          <p:spPr>
            <a:xfrm flipH="false" flipV="false" rot="0">
              <a:off x="0" y="0"/>
              <a:ext cx="9940544" cy="5095494"/>
            </a:xfrm>
            <a:custGeom>
              <a:avLst/>
              <a:gdLst/>
              <a:ahLst/>
              <a:cxnLst/>
              <a:rect r="r" b="b" t="t" l="l"/>
              <a:pathLst>
                <a:path h="5095494" w="9940544">
                  <a:moveTo>
                    <a:pt x="0" y="0"/>
                  </a:moveTo>
                  <a:lnTo>
                    <a:pt x="9940544" y="0"/>
                  </a:lnTo>
                  <a:lnTo>
                    <a:pt x="9940544" y="5095494"/>
                  </a:lnTo>
                  <a:lnTo>
                    <a:pt x="0" y="5095494"/>
                  </a:lnTo>
                  <a:lnTo>
                    <a:pt x="0" y="0"/>
                  </a:lnTo>
                  <a:close/>
                </a:path>
              </a:pathLst>
            </a:custGeom>
            <a:blipFill>
              <a:blip r:embed="rId9"/>
              <a:stretch>
                <a:fillRect l="0" t="0" r="0" b="0"/>
              </a:stretch>
            </a:blipFill>
          </p:spPr>
        </p:sp>
      </p:grpSp>
      <p:grpSp>
        <p:nvGrpSpPr>
          <p:cNvPr name="Group 10" id="10"/>
          <p:cNvGrpSpPr/>
          <p:nvPr/>
        </p:nvGrpSpPr>
        <p:grpSpPr>
          <a:xfrm rot="0">
            <a:off x="1028700" y="6093522"/>
            <a:ext cx="8815018" cy="2483790"/>
            <a:chOff x="0" y="0"/>
            <a:chExt cx="11753357" cy="3311720"/>
          </a:xfrm>
        </p:grpSpPr>
        <p:sp>
          <p:nvSpPr>
            <p:cNvPr name="Freeform 11" id="11"/>
            <p:cNvSpPr/>
            <p:nvPr/>
          </p:nvSpPr>
          <p:spPr>
            <a:xfrm flipH="false" flipV="false" rot="0">
              <a:off x="0" y="0"/>
              <a:ext cx="11753342" cy="3311779"/>
            </a:xfrm>
            <a:custGeom>
              <a:avLst/>
              <a:gdLst/>
              <a:ahLst/>
              <a:cxnLst/>
              <a:rect r="r" b="b" t="t" l="l"/>
              <a:pathLst>
                <a:path h="3311779" w="11753342">
                  <a:moveTo>
                    <a:pt x="0" y="0"/>
                  </a:moveTo>
                  <a:lnTo>
                    <a:pt x="11753342" y="0"/>
                  </a:lnTo>
                  <a:lnTo>
                    <a:pt x="11753342" y="3311779"/>
                  </a:lnTo>
                  <a:lnTo>
                    <a:pt x="0" y="3311779"/>
                  </a:lnTo>
                  <a:lnTo>
                    <a:pt x="0" y="0"/>
                  </a:lnTo>
                  <a:close/>
                </a:path>
              </a:pathLst>
            </a:custGeom>
            <a:blipFill>
              <a:blip r:embed="rId10"/>
              <a:stretch>
                <a:fillRect l="0" t="0" r="0" b="1"/>
              </a:stretch>
            </a:blipFill>
          </p:spPr>
        </p:sp>
      </p:grpSp>
      <p:grpSp>
        <p:nvGrpSpPr>
          <p:cNvPr name="Group 12" id="12"/>
          <p:cNvGrpSpPr/>
          <p:nvPr/>
        </p:nvGrpSpPr>
        <p:grpSpPr>
          <a:xfrm rot="0">
            <a:off x="10613786" y="1321911"/>
            <a:ext cx="5456547" cy="1004093"/>
            <a:chOff x="0" y="0"/>
            <a:chExt cx="7275396" cy="1338791"/>
          </a:xfrm>
        </p:grpSpPr>
        <p:sp>
          <p:nvSpPr>
            <p:cNvPr name="Freeform 13" id="13"/>
            <p:cNvSpPr/>
            <p:nvPr/>
          </p:nvSpPr>
          <p:spPr>
            <a:xfrm flipH="false" flipV="false" rot="0">
              <a:off x="0" y="0"/>
              <a:ext cx="7275449" cy="1338834"/>
            </a:xfrm>
            <a:custGeom>
              <a:avLst/>
              <a:gdLst/>
              <a:ahLst/>
              <a:cxnLst/>
              <a:rect r="r" b="b" t="t" l="l"/>
              <a:pathLst>
                <a:path h="1338834" w="7275449">
                  <a:moveTo>
                    <a:pt x="0" y="0"/>
                  </a:moveTo>
                  <a:lnTo>
                    <a:pt x="7275449" y="0"/>
                  </a:lnTo>
                  <a:lnTo>
                    <a:pt x="7275449" y="1338834"/>
                  </a:lnTo>
                  <a:lnTo>
                    <a:pt x="0" y="1338834"/>
                  </a:lnTo>
                  <a:lnTo>
                    <a:pt x="0" y="0"/>
                  </a:lnTo>
                  <a:close/>
                </a:path>
              </a:pathLst>
            </a:custGeom>
            <a:blipFill>
              <a:blip r:embed="rId11"/>
              <a:stretch>
                <a:fillRect l="0" t="-6216" r="0" b="-6213"/>
              </a:stretch>
            </a:blipFill>
          </p:spPr>
        </p:sp>
      </p:grpSp>
      <p:grpSp>
        <p:nvGrpSpPr>
          <p:cNvPr name="Group 14" id="14"/>
          <p:cNvGrpSpPr/>
          <p:nvPr/>
        </p:nvGrpSpPr>
        <p:grpSpPr>
          <a:xfrm rot="0">
            <a:off x="10613786" y="2326004"/>
            <a:ext cx="5493898" cy="1420836"/>
            <a:chOff x="0" y="0"/>
            <a:chExt cx="7325197" cy="1894448"/>
          </a:xfrm>
        </p:grpSpPr>
        <p:sp>
          <p:nvSpPr>
            <p:cNvPr name="Freeform 15" id="15"/>
            <p:cNvSpPr/>
            <p:nvPr/>
          </p:nvSpPr>
          <p:spPr>
            <a:xfrm flipH="false" flipV="false" rot="0">
              <a:off x="0" y="0"/>
              <a:ext cx="7325233" cy="1894459"/>
            </a:xfrm>
            <a:custGeom>
              <a:avLst/>
              <a:gdLst/>
              <a:ahLst/>
              <a:cxnLst/>
              <a:rect r="r" b="b" t="t" l="l"/>
              <a:pathLst>
                <a:path h="1894459" w="7325233">
                  <a:moveTo>
                    <a:pt x="0" y="0"/>
                  </a:moveTo>
                  <a:lnTo>
                    <a:pt x="7325233" y="0"/>
                  </a:lnTo>
                  <a:lnTo>
                    <a:pt x="7325233" y="1894459"/>
                  </a:lnTo>
                  <a:lnTo>
                    <a:pt x="0" y="1894459"/>
                  </a:lnTo>
                  <a:lnTo>
                    <a:pt x="0" y="0"/>
                  </a:lnTo>
                  <a:close/>
                </a:path>
              </a:pathLst>
            </a:custGeom>
            <a:blipFill>
              <a:blip r:embed="rId12"/>
              <a:stretch>
                <a:fillRect l="0" t="0" r="0" b="0"/>
              </a:stretch>
            </a:blipFill>
          </p:spPr>
        </p:sp>
      </p:grpSp>
      <p:sp>
        <p:nvSpPr>
          <p:cNvPr name="TextBox 16" id="16"/>
          <p:cNvSpPr txBox="true"/>
          <p:nvPr/>
        </p:nvSpPr>
        <p:spPr>
          <a:xfrm rot="0">
            <a:off x="1028700" y="5286375"/>
            <a:ext cx="4627665" cy="514305"/>
          </a:xfrm>
          <a:prstGeom prst="rect">
            <a:avLst/>
          </a:prstGeom>
        </p:spPr>
        <p:txBody>
          <a:bodyPr anchor="t" rtlCol="false" tIns="0" lIns="0" bIns="0" rIns="0">
            <a:spAutoFit/>
          </a:bodyPr>
          <a:lstStyle/>
          <a:p>
            <a:pPr algn="ctr">
              <a:lnSpc>
                <a:spcPts val="4200"/>
              </a:lnSpc>
            </a:pPr>
            <a:r>
              <a:rPr lang="en-US" sz="3000" b="true">
                <a:solidFill>
                  <a:srgbClr val="0B1320"/>
                </a:solidFill>
                <a:latin typeface="Open Sans 1 Bold"/>
                <a:ea typeface="Open Sans 1 Bold"/>
                <a:cs typeface="Open Sans 1 Bold"/>
                <a:sym typeface="Open Sans 1 Bold"/>
              </a:rPr>
              <a:t>Matriz de transferencia:</a:t>
            </a:r>
          </a:p>
        </p:txBody>
      </p:sp>
      <p:sp>
        <p:nvSpPr>
          <p:cNvPr name="Freeform 17" id="17"/>
          <p:cNvSpPr/>
          <p:nvPr/>
        </p:nvSpPr>
        <p:spPr>
          <a:xfrm flipH="false" flipV="false" rot="0">
            <a:off x="-7062" y="-854900"/>
            <a:ext cx="10221218" cy="1709799"/>
          </a:xfrm>
          <a:custGeom>
            <a:avLst/>
            <a:gdLst/>
            <a:ahLst/>
            <a:cxnLst/>
            <a:rect r="r" b="b" t="t" l="l"/>
            <a:pathLst>
              <a:path h="1709799" w="10221218">
                <a:moveTo>
                  <a:pt x="0" y="0"/>
                </a:moveTo>
                <a:lnTo>
                  <a:pt x="10221218" y="0"/>
                </a:lnTo>
                <a:lnTo>
                  <a:pt x="10221218" y="1709800"/>
                </a:lnTo>
                <a:lnTo>
                  <a:pt x="0" y="1709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102811" y="54207"/>
            <a:ext cx="11107108" cy="140906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2</a:t>
            </a:r>
            <a:r>
              <a:rPr lang="en-US" sz="1899" b="true">
                <a:solidFill>
                  <a:srgbClr val="FFFFFF"/>
                </a:solidFill>
                <a:latin typeface="Times New Roman Bold"/>
                <a:ea typeface="Times New Roman Bold"/>
                <a:cs typeface="Times New Roman Bold"/>
                <a:sym typeface="Times New Roman Bold"/>
              </a:rPr>
              <a:t>. F</a:t>
            </a:r>
            <a:r>
              <a:rPr lang="en-US" b="true" sz="1899">
                <a:solidFill>
                  <a:srgbClr val="FFFFFF"/>
                </a:solidFill>
                <a:latin typeface="Times New Roman Bold"/>
                <a:ea typeface="Times New Roman Bold"/>
                <a:cs typeface="Times New Roman Bold"/>
                <a:sym typeface="Times New Roman Bold"/>
              </a:rPr>
              <a:t>undamentos teóricos del MPC aplicado al Sistema Hidráulico de Cuatro Tanques Acoplados</a:t>
            </a:r>
          </a:p>
          <a:p>
            <a:pPr algn="l">
              <a:lnSpc>
                <a:spcPts val="3219"/>
              </a:lnSpc>
            </a:pPr>
            <a:r>
              <a:rPr lang="en-US" b="true" sz="2299">
                <a:solidFill>
                  <a:srgbClr val="FFFFFF"/>
                </a:solidFill>
                <a:latin typeface="Times New Roman Bold"/>
                <a:ea typeface="Times New Roman Bold"/>
                <a:cs typeface="Times New Roman Bold"/>
                <a:sym typeface="Times New Roman Bold"/>
              </a:rPr>
              <a:t>      2.3. Modelamiento del sistema de cuatro tanques acoplados</a:t>
            </a:r>
          </a:p>
          <a:p>
            <a:pPr algn="l">
              <a:lnSpc>
                <a:spcPts val="2659"/>
              </a:lnSpc>
            </a:pPr>
          </a:p>
          <a:p>
            <a:pPr algn="l">
              <a:lnSpc>
                <a:spcPts val="265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8972" y="1444705"/>
            <a:ext cx="7769505" cy="2719327"/>
          </a:xfrm>
          <a:custGeom>
            <a:avLst/>
            <a:gdLst/>
            <a:ahLst/>
            <a:cxnLst/>
            <a:rect r="r" b="b" t="t" l="l"/>
            <a:pathLst>
              <a:path h="2719327" w="7769505">
                <a:moveTo>
                  <a:pt x="0" y="0"/>
                </a:moveTo>
                <a:lnTo>
                  <a:pt x="7769505" y="0"/>
                </a:lnTo>
                <a:lnTo>
                  <a:pt x="7769505" y="2719326"/>
                </a:lnTo>
                <a:lnTo>
                  <a:pt x="0" y="2719326"/>
                </a:lnTo>
                <a:lnTo>
                  <a:pt x="0" y="0"/>
                </a:lnTo>
                <a:close/>
              </a:path>
            </a:pathLst>
          </a:custGeom>
          <a:blipFill>
            <a:blip r:embed="rId9"/>
            <a:stretch>
              <a:fillRect l="0" t="0" r="0" b="0"/>
            </a:stretch>
          </a:blipFill>
        </p:spPr>
      </p:sp>
      <p:sp>
        <p:nvSpPr>
          <p:cNvPr name="Freeform 8" id="8"/>
          <p:cNvSpPr/>
          <p:nvPr/>
        </p:nvSpPr>
        <p:spPr>
          <a:xfrm flipH="false" flipV="false" rot="0">
            <a:off x="1822851" y="4926704"/>
            <a:ext cx="4821748" cy="3965888"/>
          </a:xfrm>
          <a:custGeom>
            <a:avLst/>
            <a:gdLst/>
            <a:ahLst/>
            <a:cxnLst/>
            <a:rect r="r" b="b" t="t" l="l"/>
            <a:pathLst>
              <a:path h="3965888" w="4821748">
                <a:moveTo>
                  <a:pt x="0" y="0"/>
                </a:moveTo>
                <a:lnTo>
                  <a:pt x="4821748" y="0"/>
                </a:lnTo>
                <a:lnTo>
                  <a:pt x="4821748" y="3965888"/>
                </a:lnTo>
                <a:lnTo>
                  <a:pt x="0" y="3965888"/>
                </a:lnTo>
                <a:lnTo>
                  <a:pt x="0" y="0"/>
                </a:lnTo>
                <a:close/>
              </a:path>
            </a:pathLst>
          </a:custGeom>
          <a:blipFill>
            <a:blip r:embed="rId10"/>
            <a:stretch>
              <a:fillRect l="0" t="0" r="0" b="0"/>
            </a:stretch>
          </a:blipFill>
        </p:spPr>
      </p:sp>
      <p:sp>
        <p:nvSpPr>
          <p:cNvPr name="Freeform 9" id="9"/>
          <p:cNvSpPr/>
          <p:nvPr/>
        </p:nvSpPr>
        <p:spPr>
          <a:xfrm flipH="false" flipV="false" rot="0">
            <a:off x="9008898" y="3157512"/>
            <a:ext cx="8452869" cy="4078509"/>
          </a:xfrm>
          <a:custGeom>
            <a:avLst/>
            <a:gdLst/>
            <a:ahLst/>
            <a:cxnLst/>
            <a:rect r="r" b="b" t="t" l="l"/>
            <a:pathLst>
              <a:path h="4078509" w="8452869">
                <a:moveTo>
                  <a:pt x="0" y="0"/>
                </a:moveTo>
                <a:lnTo>
                  <a:pt x="8452869" y="0"/>
                </a:lnTo>
                <a:lnTo>
                  <a:pt x="8452869" y="4078510"/>
                </a:lnTo>
                <a:lnTo>
                  <a:pt x="0" y="4078510"/>
                </a:lnTo>
                <a:lnTo>
                  <a:pt x="0" y="0"/>
                </a:lnTo>
                <a:close/>
              </a:path>
            </a:pathLst>
          </a:custGeom>
          <a:blipFill>
            <a:blip r:embed="rId11"/>
            <a:stretch>
              <a:fillRect l="0" t="0" r="0" b="0"/>
            </a:stretch>
          </a:blipFill>
          <a:ln w="19050" cap="sq">
            <a:solidFill>
              <a:srgbClr val="000000"/>
            </a:solidFill>
            <a:prstDash val="solid"/>
            <a:miter/>
          </a:ln>
        </p:spPr>
      </p:sp>
      <p:sp>
        <p:nvSpPr>
          <p:cNvPr name="TextBox 10" id="10"/>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1" id="11"/>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2" id="12"/>
          <p:cNvSpPr txBox="true"/>
          <p:nvPr/>
        </p:nvSpPr>
        <p:spPr>
          <a:xfrm rot="0">
            <a:off x="102811" y="54207"/>
            <a:ext cx="12294825"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3.1. Matriz Dinámica de la planta piloto</a:t>
            </a:r>
          </a:p>
        </p:txBody>
      </p:sp>
      <p:sp>
        <p:nvSpPr>
          <p:cNvPr name="TextBox 13" id="13"/>
          <p:cNvSpPr txBox="true"/>
          <p:nvPr/>
        </p:nvSpPr>
        <p:spPr>
          <a:xfrm rot="0">
            <a:off x="348972" y="1036400"/>
            <a:ext cx="3594960"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Puntos de operación posibles</a:t>
            </a:r>
          </a:p>
        </p:txBody>
      </p:sp>
      <p:sp>
        <p:nvSpPr>
          <p:cNvPr name="TextBox 14" id="14"/>
          <p:cNvSpPr txBox="true"/>
          <p:nvPr/>
        </p:nvSpPr>
        <p:spPr>
          <a:xfrm rot="0">
            <a:off x="348972" y="4373581"/>
            <a:ext cx="6982874"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Parámetros del punto de operación para la linealización</a:t>
            </a:r>
          </a:p>
        </p:txBody>
      </p:sp>
      <p:sp>
        <p:nvSpPr>
          <p:cNvPr name="TextBox 15" id="15"/>
          <p:cNvSpPr txBox="true"/>
          <p:nvPr/>
        </p:nvSpPr>
        <p:spPr>
          <a:xfrm rot="0">
            <a:off x="8813219" y="7394450"/>
            <a:ext cx="8844227"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Fig.19. Diagrama en Simulink de simulacion comparativa entre modelo no lineal y modelo linealizado en un punto de operacion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81038" y="1105414"/>
            <a:ext cx="16198001" cy="5789733"/>
          </a:xfrm>
          <a:custGeom>
            <a:avLst/>
            <a:gdLst/>
            <a:ahLst/>
            <a:cxnLst/>
            <a:rect r="r" b="b" t="t" l="l"/>
            <a:pathLst>
              <a:path h="5789733" w="16198001">
                <a:moveTo>
                  <a:pt x="0" y="0"/>
                </a:moveTo>
                <a:lnTo>
                  <a:pt x="16198001" y="0"/>
                </a:lnTo>
                <a:lnTo>
                  <a:pt x="16198001" y="5789733"/>
                </a:lnTo>
                <a:lnTo>
                  <a:pt x="0" y="5789733"/>
                </a:lnTo>
                <a:lnTo>
                  <a:pt x="0" y="0"/>
                </a:lnTo>
                <a:close/>
              </a:path>
            </a:pathLst>
          </a:custGeom>
          <a:blipFill>
            <a:blip r:embed="rId9"/>
            <a:stretch>
              <a:fillRect l="0" t="0" r="0" b="-67163"/>
            </a:stretch>
          </a:blipFill>
        </p:spPr>
      </p:sp>
      <p:sp>
        <p:nvSpPr>
          <p:cNvPr name="TextBox 8" id="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9" id="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0" id="10"/>
          <p:cNvSpPr txBox="true"/>
          <p:nvPr/>
        </p:nvSpPr>
        <p:spPr>
          <a:xfrm rot="0">
            <a:off x="102811" y="54207"/>
            <a:ext cx="12294825" cy="7372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3.1. Matriz Dinámica de la planta piloto</a:t>
            </a:r>
          </a:p>
        </p:txBody>
      </p:sp>
      <p:sp>
        <p:nvSpPr>
          <p:cNvPr name="TextBox 11" id="11"/>
          <p:cNvSpPr txBox="true"/>
          <p:nvPr/>
        </p:nvSpPr>
        <p:spPr>
          <a:xfrm rot="0">
            <a:off x="700777" y="7438072"/>
            <a:ext cx="16558523" cy="1608455"/>
          </a:xfrm>
          <a:prstGeom prst="rect">
            <a:avLst/>
          </a:prstGeom>
        </p:spPr>
        <p:txBody>
          <a:bodyPr anchor="t" rtlCol="false" tIns="0" lIns="0" bIns="0" rIns="0">
            <a:spAutoFit/>
          </a:bodyPr>
          <a:lstStyle/>
          <a:p>
            <a:pPr algn="l">
              <a:lnSpc>
                <a:spcPts val="3220"/>
              </a:lnSpc>
            </a:pPr>
            <a:r>
              <a:rPr lang="en-US" sz="2300">
                <a:solidFill>
                  <a:srgbClr val="000000"/>
                </a:solidFill>
                <a:latin typeface="Times New Roman"/>
                <a:ea typeface="Times New Roman"/>
                <a:cs typeface="Times New Roman"/>
                <a:sym typeface="Times New Roman"/>
              </a:rPr>
              <a:t>El controlador diseñado en torno al punto de operación h=25 es válido dentro del rango donde la linealización representa fielmente al sistema, es decir, entre h=22.48h y h=27.56h, lo que equivale aproximadamente a una variación de −10.08% a +10.24%</a:t>
            </a:r>
          </a:p>
          <a:p>
            <a:pPr algn="l">
              <a:lnSpc>
                <a:spcPts val="3220"/>
              </a:lnSpc>
              <a:spcBef>
                <a:spcPct val="0"/>
              </a:spcBef>
            </a:pPr>
            <a:r>
              <a:rPr lang="en-US" b="true" sz="2300">
                <a:solidFill>
                  <a:srgbClr val="000000"/>
                </a:solidFill>
                <a:latin typeface="Times New Roman Bold"/>
                <a:ea typeface="Times New Roman Bold"/>
                <a:cs typeface="Times New Roman Bold"/>
                <a:sym typeface="Times New Roman Bold"/>
              </a:rPr>
              <a:t>E</a:t>
            </a:r>
            <a:r>
              <a:rPr lang="en-US" b="true" sz="2300">
                <a:solidFill>
                  <a:srgbClr val="000000"/>
                </a:solidFill>
                <a:latin typeface="Times New Roman Bold"/>
                <a:ea typeface="Times New Roman Bold"/>
                <a:cs typeface="Times New Roman Bold"/>
                <a:sym typeface="Times New Roman Bold"/>
              </a:rPr>
              <a:t>l controlador opera de manera confiable dentro de un margen cercano a ±10%, fuera del cual la precisión del modelo lineal disminuye y el desempeño del controlador puede verse afectado</a:t>
            </a:r>
            <a:r>
              <a:rPr lang="en-US" sz="2300">
                <a:solidFill>
                  <a:srgbClr val="000000"/>
                </a:solidFill>
                <a:latin typeface="Times New Roman"/>
                <a:ea typeface="Times New Roman"/>
                <a:cs typeface="Times New Roman"/>
                <a:sym typeface="Times New Roman"/>
              </a:rPr>
              <a:t>.</a:t>
            </a:r>
          </a:p>
        </p:txBody>
      </p:sp>
      <p:sp>
        <p:nvSpPr>
          <p:cNvPr name="TextBox 12" id="12"/>
          <p:cNvSpPr txBox="true"/>
          <p:nvPr/>
        </p:nvSpPr>
        <p:spPr>
          <a:xfrm rot="0">
            <a:off x="5323146" y="7008812"/>
            <a:ext cx="7662135" cy="181610"/>
          </a:xfrm>
          <a:prstGeom prst="rect">
            <a:avLst/>
          </a:prstGeom>
        </p:spPr>
        <p:txBody>
          <a:bodyPr anchor="t" rtlCol="false" tIns="0" lIns="0" bIns="0" rIns="0">
            <a:spAutoFit/>
          </a:bodyPr>
          <a:lstStyle/>
          <a:p>
            <a:pPr algn="ctr">
              <a:lnSpc>
                <a:spcPts val="1539"/>
              </a:lnSpc>
            </a:pPr>
            <a:r>
              <a:rPr lang="en-US" sz="1099" b="true">
                <a:solidFill>
                  <a:srgbClr val="0B1320"/>
                </a:solidFill>
                <a:latin typeface="Open Sans 1 Bold"/>
                <a:ea typeface="Open Sans 1 Bold"/>
                <a:cs typeface="Open Sans 1 Bold"/>
                <a:sym typeface="Open Sans 1 Bold"/>
              </a:rPr>
              <a:t>Fig.20. Grafico de Simulink comparativa entre modelo no lineal y modelo linealizado en un punto de operacion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343339" y="-766532"/>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903448" y="6020987"/>
            <a:ext cx="2590740" cy="981790"/>
          </a:xfrm>
          <a:custGeom>
            <a:avLst/>
            <a:gdLst/>
            <a:ahLst/>
            <a:cxnLst/>
            <a:rect r="r" b="b" t="t" l="l"/>
            <a:pathLst>
              <a:path h="981790" w="2590740">
                <a:moveTo>
                  <a:pt x="0" y="0"/>
                </a:moveTo>
                <a:lnTo>
                  <a:pt x="2590740" y="0"/>
                </a:lnTo>
                <a:lnTo>
                  <a:pt x="2590740" y="981790"/>
                </a:lnTo>
                <a:lnTo>
                  <a:pt x="0" y="981790"/>
                </a:lnTo>
                <a:lnTo>
                  <a:pt x="0" y="0"/>
                </a:lnTo>
                <a:close/>
              </a:path>
            </a:pathLst>
          </a:custGeom>
          <a:blipFill>
            <a:blip r:embed="rId9"/>
            <a:stretch>
              <a:fillRect l="0" t="-16182" r="0" b="-8990"/>
            </a:stretch>
          </a:blipFill>
        </p:spPr>
      </p:sp>
      <p:sp>
        <p:nvSpPr>
          <p:cNvPr name="Freeform 8" id="8"/>
          <p:cNvSpPr/>
          <p:nvPr/>
        </p:nvSpPr>
        <p:spPr>
          <a:xfrm flipH="false" flipV="false" rot="0">
            <a:off x="4736717" y="8196439"/>
            <a:ext cx="2924202" cy="1061861"/>
          </a:xfrm>
          <a:custGeom>
            <a:avLst/>
            <a:gdLst/>
            <a:ahLst/>
            <a:cxnLst/>
            <a:rect r="r" b="b" t="t" l="l"/>
            <a:pathLst>
              <a:path h="1061861" w="2924202">
                <a:moveTo>
                  <a:pt x="0" y="0"/>
                </a:moveTo>
                <a:lnTo>
                  <a:pt x="2924202" y="0"/>
                </a:lnTo>
                <a:lnTo>
                  <a:pt x="2924202" y="1061861"/>
                </a:lnTo>
                <a:lnTo>
                  <a:pt x="0" y="1061861"/>
                </a:lnTo>
                <a:lnTo>
                  <a:pt x="0" y="0"/>
                </a:lnTo>
                <a:close/>
              </a:path>
            </a:pathLst>
          </a:custGeom>
          <a:blipFill>
            <a:blip r:embed="rId10"/>
            <a:stretch>
              <a:fillRect l="0" t="0" r="0" b="0"/>
            </a:stretch>
          </a:blipFill>
        </p:spPr>
      </p:sp>
      <p:sp>
        <p:nvSpPr>
          <p:cNvPr name="Freeform 9" id="9"/>
          <p:cNvSpPr/>
          <p:nvPr/>
        </p:nvSpPr>
        <p:spPr>
          <a:xfrm flipH="false" flipV="false" rot="0">
            <a:off x="9928667" y="2919486"/>
            <a:ext cx="8055888" cy="4581786"/>
          </a:xfrm>
          <a:custGeom>
            <a:avLst/>
            <a:gdLst/>
            <a:ahLst/>
            <a:cxnLst/>
            <a:rect r="r" b="b" t="t" l="l"/>
            <a:pathLst>
              <a:path h="4581786" w="8055888">
                <a:moveTo>
                  <a:pt x="0" y="0"/>
                </a:moveTo>
                <a:lnTo>
                  <a:pt x="8055887" y="0"/>
                </a:lnTo>
                <a:lnTo>
                  <a:pt x="8055887" y="4581786"/>
                </a:lnTo>
                <a:lnTo>
                  <a:pt x="0" y="4581786"/>
                </a:lnTo>
                <a:lnTo>
                  <a:pt x="0" y="0"/>
                </a:lnTo>
                <a:close/>
              </a:path>
            </a:pathLst>
          </a:custGeom>
          <a:blipFill>
            <a:blip r:embed="rId11"/>
            <a:stretch>
              <a:fillRect l="0" t="0" r="0" b="0"/>
            </a:stretch>
          </a:blipFill>
        </p:spPr>
      </p:sp>
      <p:sp>
        <p:nvSpPr>
          <p:cNvPr name="Freeform 10" id="10"/>
          <p:cNvSpPr/>
          <p:nvPr/>
        </p:nvSpPr>
        <p:spPr>
          <a:xfrm flipH="false" flipV="false" rot="0">
            <a:off x="3776450" y="2144583"/>
            <a:ext cx="4844737" cy="1134803"/>
          </a:xfrm>
          <a:custGeom>
            <a:avLst/>
            <a:gdLst/>
            <a:ahLst/>
            <a:cxnLst/>
            <a:rect r="r" b="b" t="t" l="l"/>
            <a:pathLst>
              <a:path h="1134803" w="4844737">
                <a:moveTo>
                  <a:pt x="0" y="0"/>
                </a:moveTo>
                <a:lnTo>
                  <a:pt x="4844737" y="0"/>
                </a:lnTo>
                <a:lnTo>
                  <a:pt x="4844737" y="1134803"/>
                </a:lnTo>
                <a:lnTo>
                  <a:pt x="0" y="1134803"/>
                </a:lnTo>
                <a:lnTo>
                  <a:pt x="0" y="0"/>
                </a:lnTo>
                <a:close/>
              </a:path>
            </a:pathLst>
          </a:custGeom>
          <a:blipFill>
            <a:blip r:embed="rId12"/>
            <a:stretch>
              <a:fillRect l="0" t="0" r="0" b="0"/>
            </a:stretch>
          </a:blipFill>
        </p:spPr>
      </p:sp>
      <p:sp>
        <p:nvSpPr>
          <p:cNvPr name="TextBox 11" id="11"/>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2" id="12"/>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3" id="13"/>
          <p:cNvSpPr txBox="true"/>
          <p:nvPr/>
        </p:nvSpPr>
        <p:spPr>
          <a:xfrm rot="0">
            <a:off x="102811" y="54207"/>
            <a:ext cx="12294825" cy="113728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3.2. Criterios de desempeño </a:t>
            </a:r>
          </a:p>
          <a:p>
            <a:pPr algn="l">
              <a:lnSpc>
                <a:spcPts val="3219"/>
              </a:lnSpc>
            </a:pPr>
          </a:p>
        </p:txBody>
      </p:sp>
      <p:sp>
        <p:nvSpPr>
          <p:cNvPr name="TextBox 14" id="14"/>
          <p:cNvSpPr txBox="true"/>
          <p:nvPr/>
        </p:nvSpPr>
        <p:spPr>
          <a:xfrm rot="0">
            <a:off x="195104" y="962025"/>
            <a:ext cx="2777860"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Maximo sobreimpulso</a:t>
            </a:r>
          </a:p>
        </p:txBody>
      </p:sp>
      <p:sp>
        <p:nvSpPr>
          <p:cNvPr name="TextBox 15" id="15"/>
          <p:cNvSpPr txBox="true"/>
          <p:nvPr/>
        </p:nvSpPr>
        <p:spPr>
          <a:xfrm rot="0">
            <a:off x="102811" y="3212711"/>
            <a:ext cx="3394009"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Tiemp</a:t>
            </a:r>
            <a:r>
              <a:rPr lang="en-US" b="true" sz="2300">
                <a:solidFill>
                  <a:srgbClr val="000000"/>
                </a:solidFill>
                <a:latin typeface="Times New Roman Bold"/>
                <a:ea typeface="Times New Roman Bold"/>
                <a:cs typeface="Times New Roman Bold"/>
                <a:sym typeface="Times New Roman Bold"/>
              </a:rPr>
              <a:t>o de establecimiento,</a:t>
            </a:r>
          </a:p>
        </p:txBody>
      </p:sp>
      <p:sp>
        <p:nvSpPr>
          <p:cNvPr name="TextBox 16" id="16"/>
          <p:cNvSpPr txBox="true"/>
          <p:nvPr/>
        </p:nvSpPr>
        <p:spPr>
          <a:xfrm rot="0">
            <a:off x="91920" y="5076825"/>
            <a:ext cx="6250224"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Integral</a:t>
            </a:r>
            <a:r>
              <a:rPr lang="en-US" b="true" sz="2300">
                <a:solidFill>
                  <a:srgbClr val="000000"/>
                </a:solidFill>
                <a:latin typeface="Times New Roman Bold"/>
                <a:ea typeface="Times New Roman Bold"/>
                <a:cs typeface="Times New Roman Bold"/>
                <a:sym typeface="Times New Roman Bold"/>
              </a:rPr>
              <a:t> de la magnitud absoluta del error (IAE)</a:t>
            </a:r>
          </a:p>
        </p:txBody>
      </p:sp>
      <p:sp>
        <p:nvSpPr>
          <p:cNvPr name="TextBox 17" id="17"/>
          <p:cNvSpPr txBox="true"/>
          <p:nvPr/>
        </p:nvSpPr>
        <p:spPr>
          <a:xfrm rot="0">
            <a:off x="102811" y="7026292"/>
            <a:ext cx="4576322"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Integral</a:t>
            </a:r>
            <a:r>
              <a:rPr lang="en-US" b="true" sz="2300">
                <a:solidFill>
                  <a:srgbClr val="000000"/>
                </a:solidFill>
                <a:latin typeface="Times New Roman Bold"/>
                <a:ea typeface="Times New Roman Bold"/>
                <a:cs typeface="Times New Roman Bold"/>
                <a:sym typeface="Times New Roman Bold"/>
              </a:rPr>
              <a:t> del error cuadrático (ISE)</a:t>
            </a:r>
          </a:p>
        </p:txBody>
      </p:sp>
      <p:sp>
        <p:nvSpPr>
          <p:cNvPr name="TextBox 18" id="18"/>
          <p:cNvSpPr txBox="true"/>
          <p:nvPr/>
        </p:nvSpPr>
        <p:spPr>
          <a:xfrm rot="0">
            <a:off x="148957" y="3663419"/>
            <a:ext cx="9503485" cy="1208405"/>
          </a:xfrm>
          <a:prstGeom prst="rect">
            <a:avLst/>
          </a:prstGeom>
        </p:spPr>
        <p:txBody>
          <a:bodyPr anchor="t" rtlCol="false" tIns="0" lIns="0" bIns="0" rIns="0">
            <a:spAutoFit/>
          </a:bodyPr>
          <a:lstStyle/>
          <a:p>
            <a:pPr algn="l">
              <a:lnSpc>
                <a:spcPts val="3220"/>
              </a:lnSpc>
              <a:spcBef>
                <a:spcPct val="0"/>
              </a:spcBef>
            </a:pPr>
            <a:r>
              <a:rPr lang="en-US" sz="2300">
                <a:solidFill>
                  <a:srgbClr val="000000"/>
                </a:solidFill>
                <a:latin typeface="Times New Roman"/>
                <a:ea typeface="Times New Roman"/>
                <a:cs typeface="Times New Roman"/>
                <a:sym typeface="Times New Roman"/>
              </a:rPr>
              <a:t>T</a:t>
            </a:r>
            <a:r>
              <a:rPr lang="en-US" sz="2300">
                <a:solidFill>
                  <a:srgbClr val="000000"/>
                </a:solidFill>
                <a:latin typeface="Times New Roman"/>
                <a:ea typeface="Times New Roman"/>
                <a:cs typeface="Times New Roman"/>
                <a:sym typeface="Times New Roman"/>
              </a:rPr>
              <a:t>iempo que se requiere para que la curva de respuesta alcance un rango alrededor del valor final del tamaño especificado por el porcentaje absoluto del valor final (por lo general, de 2 o 5%).</a:t>
            </a:r>
          </a:p>
        </p:txBody>
      </p:sp>
      <p:sp>
        <p:nvSpPr>
          <p:cNvPr name="TextBox 19" id="19"/>
          <p:cNvSpPr txBox="true"/>
          <p:nvPr/>
        </p:nvSpPr>
        <p:spPr>
          <a:xfrm rot="0">
            <a:off x="195104" y="1372526"/>
            <a:ext cx="9411192" cy="808355"/>
          </a:xfrm>
          <a:prstGeom prst="rect">
            <a:avLst/>
          </a:prstGeom>
        </p:spPr>
        <p:txBody>
          <a:bodyPr anchor="t" rtlCol="false" tIns="0" lIns="0" bIns="0" rIns="0">
            <a:spAutoFit/>
          </a:bodyPr>
          <a:lstStyle/>
          <a:p>
            <a:pPr algn="l">
              <a:lnSpc>
                <a:spcPts val="3220"/>
              </a:lnSpc>
              <a:spcBef>
                <a:spcPct val="0"/>
              </a:spcBef>
            </a:pPr>
            <a:r>
              <a:rPr lang="en-US" sz="2300">
                <a:solidFill>
                  <a:srgbClr val="000000"/>
                </a:solidFill>
                <a:latin typeface="Times New Roman"/>
                <a:ea typeface="Times New Roman"/>
                <a:cs typeface="Times New Roman"/>
                <a:sym typeface="Times New Roman"/>
              </a:rPr>
              <a:t>M</a:t>
            </a:r>
            <a:r>
              <a:rPr lang="en-US" sz="2300">
                <a:solidFill>
                  <a:srgbClr val="000000"/>
                </a:solidFill>
                <a:latin typeface="Times New Roman"/>
                <a:ea typeface="Times New Roman"/>
                <a:cs typeface="Times New Roman"/>
                <a:sym typeface="Times New Roman"/>
              </a:rPr>
              <a:t>áxima sobre-elongación es el máximo valor del pico de la curva de respuesta, medido a partir de la unidad.</a:t>
            </a:r>
          </a:p>
        </p:txBody>
      </p:sp>
      <p:sp>
        <p:nvSpPr>
          <p:cNvPr name="TextBox 20" id="20"/>
          <p:cNvSpPr txBox="true"/>
          <p:nvPr/>
        </p:nvSpPr>
        <p:spPr>
          <a:xfrm rot="0">
            <a:off x="195104" y="5523230"/>
            <a:ext cx="5507302" cy="408305"/>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Times New Roman"/>
                <a:ea typeface="Times New Roman"/>
                <a:cs typeface="Times New Roman"/>
                <a:sym typeface="Times New Roman"/>
              </a:rPr>
              <a:t>La integral del error absoluto está definida por:</a:t>
            </a:r>
          </a:p>
        </p:txBody>
      </p:sp>
      <p:sp>
        <p:nvSpPr>
          <p:cNvPr name="TextBox 21" id="21"/>
          <p:cNvSpPr txBox="true"/>
          <p:nvPr/>
        </p:nvSpPr>
        <p:spPr>
          <a:xfrm rot="0">
            <a:off x="195104" y="7434597"/>
            <a:ext cx="6252501" cy="408305"/>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Times New Roman"/>
                <a:ea typeface="Times New Roman"/>
                <a:cs typeface="Times New Roman"/>
                <a:sym typeface="Times New Roman"/>
              </a:rPr>
              <a:t>La integral del error cuadrático está representada por: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1190396"/>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85128" y="2704697"/>
            <a:ext cx="2799002" cy="979320"/>
          </a:xfrm>
          <a:custGeom>
            <a:avLst/>
            <a:gdLst/>
            <a:ahLst/>
            <a:cxnLst/>
            <a:rect r="r" b="b" t="t" l="l"/>
            <a:pathLst>
              <a:path h="979320" w="2799002">
                <a:moveTo>
                  <a:pt x="0" y="0"/>
                </a:moveTo>
                <a:lnTo>
                  <a:pt x="2799002" y="0"/>
                </a:lnTo>
                <a:lnTo>
                  <a:pt x="2799002" y="979320"/>
                </a:lnTo>
                <a:lnTo>
                  <a:pt x="0" y="979320"/>
                </a:lnTo>
                <a:lnTo>
                  <a:pt x="0" y="0"/>
                </a:lnTo>
                <a:close/>
              </a:path>
            </a:pathLst>
          </a:custGeom>
          <a:blipFill>
            <a:blip r:embed="rId9"/>
            <a:stretch>
              <a:fillRect l="0" t="0" r="0" b="0"/>
            </a:stretch>
          </a:blipFill>
        </p:spPr>
      </p:sp>
      <p:sp>
        <p:nvSpPr>
          <p:cNvPr name="Freeform 8" id="8"/>
          <p:cNvSpPr/>
          <p:nvPr/>
        </p:nvSpPr>
        <p:spPr>
          <a:xfrm flipH="false" flipV="false" rot="0">
            <a:off x="7699349" y="1762357"/>
            <a:ext cx="7223728" cy="2182366"/>
          </a:xfrm>
          <a:custGeom>
            <a:avLst/>
            <a:gdLst/>
            <a:ahLst/>
            <a:cxnLst/>
            <a:rect r="r" b="b" t="t" l="l"/>
            <a:pathLst>
              <a:path h="2182366" w="7223728">
                <a:moveTo>
                  <a:pt x="0" y="0"/>
                </a:moveTo>
                <a:lnTo>
                  <a:pt x="7223727" y="0"/>
                </a:lnTo>
                <a:lnTo>
                  <a:pt x="7223727" y="2182367"/>
                </a:lnTo>
                <a:lnTo>
                  <a:pt x="0" y="2182367"/>
                </a:lnTo>
                <a:lnTo>
                  <a:pt x="0" y="0"/>
                </a:lnTo>
                <a:close/>
              </a:path>
            </a:pathLst>
          </a:custGeom>
          <a:blipFill>
            <a:blip r:embed="rId10"/>
            <a:stretch>
              <a:fillRect l="0" t="0" r="0" b="0"/>
            </a:stretch>
          </a:blipFill>
        </p:spPr>
      </p:sp>
      <p:sp>
        <p:nvSpPr>
          <p:cNvPr name="Freeform 9" id="9"/>
          <p:cNvSpPr/>
          <p:nvPr/>
        </p:nvSpPr>
        <p:spPr>
          <a:xfrm flipH="false" flipV="false" rot="0">
            <a:off x="7699349" y="4278154"/>
            <a:ext cx="3701495" cy="1252924"/>
          </a:xfrm>
          <a:custGeom>
            <a:avLst/>
            <a:gdLst/>
            <a:ahLst/>
            <a:cxnLst/>
            <a:rect r="r" b="b" t="t" l="l"/>
            <a:pathLst>
              <a:path h="1252924" w="3701495">
                <a:moveTo>
                  <a:pt x="0" y="0"/>
                </a:moveTo>
                <a:lnTo>
                  <a:pt x="3701495" y="0"/>
                </a:lnTo>
                <a:lnTo>
                  <a:pt x="3701495" y="1252924"/>
                </a:lnTo>
                <a:lnTo>
                  <a:pt x="0" y="1252924"/>
                </a:lnTo>
                <a:lnTo>
                  <a:pt x="0" y="0"/>
                </a:lnTo>
                <a:close/>
              </a:path>
            </a:pathLst>
          </a:custGeom>
          <a:blipFill>
            <a:blip r:embed="rId11"/>
            <a:stretch>
              <a:fillRect l="0" t="0" r="0" b="0"/>
            </a:stretch>
          </a:blipFill>
        </p:spPr>
      </p:sp>
      <p:sp>
        <p:nvSpPr>
          <p:cNvPr name="Freeform 10" id="10"/>
          <p:cNvSpPr/>
          <p:nvPr/>
        </p:nvSpPr>
        <p:spPr>
          <a:xfrm flipH="false" flipV="false" rot="0">
            <a:off x="266978" y="4535329"/>
            <a:ext cx="5931840" cy="919435"/>
          </a:xfrm>
          <a:custGeom>
            <a:avLst/>
            <a:gdLst/>
            <a:ahLst/>
            <a:cxnLst/>
            <a:rect r="r" b="b" t="t" l="l"/>
            <a:pathLst>
              <a:path h="919435" w="5931840">
                <a:moveTo>
                  <a:pt x="0" y="0"/>
                </a:moveTo>
                <a:lnTo>
                  <a:pt x="5931840" y="0"/>
                </a:lnTo>
                <a:lnTo>
                  <a:pt x="5931840" y="919436"/>
                </a:lnTo>
                <a:lnTo>
                  <a:pt x="0" y="919436"/>
                </a:lnTo>
                <a:lnTo>
                  <a:pt x="0" y="0"/>
                </a:lnTo>
                <a:close/>
              </a:path>
            </a:pathLst>
          </a:custGeom>
          <a:blipFill>
            <a:blip r:embed="rId12"/>
            <a:stretch>
              <a:fillRect l="0" t="0" r="0" b="0"/>
            </a:stretch>
          </a:blipFill>
        </p:spPr>
      </p:sp>
      <p:sp>
        <p:nvSpPr>
          <p:cNvPr name="Freeform 11" id="11"/>
          <p:cNvSpPr/>
          <p:nvPr/>
        </p:nvSpPr>
        <p:spPr>
          <a:xfrm flipH="false" flipV="false" rot="0">
            <a:off x="399904" y="6217933"/>
            <a:ext cx="4054359" cy="1207123"/>
          </a:xfrm>
          <a:custGeom>
            <a:avLst/>
            <a:gdLst/>
            <a:ahLst/>
            <a:cxnLst/>
            <a:rect r="r" b="b" t="t" l="l"/>
            <a:pathLst>
              <a:path h="1207123" w="4054359">
                <a:moveTo>
                  <a:pt x="0" y="0"/>
                </a:moveTo>
                <a:lnTo>
                  <a:pt x="4054358" y="0"/>
                </a:lnTo>
                <a:lnTo>
                  <a:pt x="4054358" y="1207123"/>
                </a:lnTo>
                <a:lnTo>
                  <a:pt x="0" y="1207123"/>
                </a:lnTo>
                <a:lnTo>
                  <a:pt x="0" y="0"/>
                </a:lnTo>
                <a:close/>
              </a:path>
            </a:pathLst>
          </a:custGeom>
          <a:blipFill>
            <a:blip r:embed="rId13"/>
            <a:stretch>
              <a:fillRect l="0" t="0" r="0" b="0"/>
            </a:stretch>
          </a:blipFill>
        </p:spPr>
      </p:sp>
      <p:sp>
        <p:nvSpPr>
          <p:cNvPr name="Freeform 12" id="12"/>
          <p:cNvSpPr/>
          <p:nvPr/>
        </p:nvSpPr>
        <p:spPr>
          <a:xfrm flipH="false" flipV="false" rot="0">
            <a:off x="402033" y="7370938"/>
            <a:ext cx="2782595" cy="671973"/>
          </a:xfrm>
          <a:custGeom>
            <a:avLst/>
            <a:gdLst/>
            <a:ahLst/>
            <a:cxnLst/>
            <a:rect r="r" b="b" t="t" l="l"/>
            <a:pathLst>
              <a:path h="671973" w="2782595">
                <a:moveTo>
                  <a:pt x="0" y="0"/>
                </a:moveTo>
                <a:lnTo>
                  <a:pt x="2782596" y="0"/>
                </a:lnTo>
                <a:lnTo>
                  <a:pt x="2782596" y="671972"/>
                </a:lnTo>
                <a:lnTo>
                  <a:pt x="0" y="671972"/>
                </a:lnTo>
                <a:lnTo>
                  <a:pt x="0" y="0"/>
                </a:lnTo>
                <a:close/>
              </a:path>
            </a:pathLst>
          </a:custGeom>
          <a:blipFill>
            <a:blip r:embed="rId14"/>
            <a:stretch>
              <a:fillRect l="0" t="0" r="-1734" b="0"/>
            </a:stretch>
          </a:blipFill>
        </p:spPr>
      </p:sp>
      <p:sp>
        <p:nvSpPr>
          <p:cNvPr name="Freeform 13" id="13"/>
          <p:cNvSpPr/>
          <p:nvPr/>
        </p:nvSpPr>
        <p:spPr>
          <a:xfrm flipH="false" flipV="false" rot="0">
            <a:off x="5691081" y="6217933"/>
            <a:ext cx="3663566" cy="962408"/>
          </a:xfrm>
          <a:custGeom>
            <a:avLst/>
            <a:gdLst/>
            <a:ahLst/>
            <a:cxnLst/>
            <a:rect r="r" b="b" t="t" l="l"/>
            <a:pathLst>
              <a:path h="962408" w="3663566">
                <a:moveTo>
                  <a:pt x="0" y="0"/>
                </a:moveTo>
                <a:lnTo>
                  <a:pt x="3663566" y="0"/>
                </a:lnTo>
                <a:lnTo>
                  <a:pt x="3663566" y="962407"/>
                </a:lnTo>
                <a:lnTo>
                  <a:pt x="0" y="962407"/>
                </a:lnTo>
                <a:lnTo>
                  <a:pt x="0" y="0"/>
                </a:lnTo>
                <a:close/>
              </a:path>
            </a:pathLst>
          </a:custGeom>
          <a:blipFill>
            <a:blip r:embed="rId15"/>
            <a:stretch>
              <a:fillRect l="0" t="0" r="0" b="0"/>
            </a:stretch>
          </a:blipFill>
        </p:spPr>
      </p:sp>
      <p:sp>
        <p:nvSpPr>
          <p:cNvPr name="Freeform 14" id="14"/>
          <p:cNvSpPr/>
          <p:nvPr/>
        </p:nvSpPr>
        <p:spPr>
          <a:xfrm flipH="false" flipV="false" rot="0">
            <a:off x="12114195" y="7074015"/>
            <a:ext cx="2067504" cy="632909"/>
          </a:xfrm>
          <a:custGeom>
            <a:avLst/>
            <a:gdLst/>
            <a:ahLst/>
            <a:cxnLst/>
            <a:rect r="r" b="b" t="t" l="l"/>
            <a:pathLst>
              <a:path h="632909" w="2067504">
                <a:moveTo>
                  <a:pt x="0" y="0"/>
                </a:moveTo>
                <a:lnTo>
                  <a:pt x="2067504" y="0"/>
                </a:lnTo>
                <a:lnTo>
                  <a:pt x="2067504" y="632909"/>
                </a:lnTo>
                <a:lnTo>
                  <a:pt x="0" y="632909"/>
                </a:lnTo>
                <a:lnTo>
                  <a:pt x="0" y="0"/>
                </a:lnTo>
                <a:close/>
              </a:path>
            </a:pathLst>
          </a:custGeom>
          <a:blipFill>
            <a:blip r:embed="rId16"/>
            <a:stretch>
              <a:fillRect l="0" t="0" r="0" b="0"/>
            </a:stretch>
          </a:blipFill>
        </p:spPr>
      </p:sp>
      <p:sp>
        <p:nvSpPr>
          <p:cNvPr name="Freeform 15" id="15"/>
          <p:cNvSpPr/>
          <p:nvPr/>
        </p:nvSpPr>
        <p:spPr>
          <a:xfrm flipH="false" flipV="false" rot="0">
            <a:off x="12114195" y="6217933"/>
            <a:ext cx="3251188" cy="914783"/>
          </a:xfrm>
          <a:custGeom>
            <a:avLst/>
            <a:gdLst/>
            <a:ahLst/>
            <a:cxnLst/>
            <a:rect r="r" b="b" t="t" l="l"/>
            <a:pathLst>
              <a:path h="914783" w="3251188">
                <a:moveTo>
                  <a:pt x="0" y="0"/>
                </a:moveTo>
                <a:lnTo>
                  <a:pt x="3251187" y="0"/>
                </a:lnTo>
                <a:lnTo>
                  <a:pt x="3251187" y="914782"/>
                </a:lnTo>
                <a:lnTo>
                  <a:pt x="0" y="914782"/>
                </a:lnTo>
                <a:lnTo>
                  <a:pt x="0" y="0"/>
                </a:lnTo>
                <a:close/>
              </a:path>
            </a:pathLst>
          </a:custGeom>
          <a:blipFill>
            <a:blip r:embed="rId17"/>
            <a:stretch>
              <a:fillRect l="0" t="0" r="0" b="0"/>
            </a:stretch>
          </a:blipFill>
        </p:spPr>
      </p:sp>
      <p:sp>
        <p:nvSpPr>
          <p:cNvPr name="Freeform 16" id="16"/>
          <p:cNvSpPr/>
          <p:nvPr/>
        </p:nvSpPr>
        <p:spPr>
          <a:xfrm flipH="false" flipV="false" rot="0">
            <a:off x="5691081" y="7132715"/>
            <a:ext cx="2028084" cy="660487"/>
          </a:xfrm>
          <a:custGeom>
            <a:avLst/>
            <a:gdLst/>
            <a:ahLst/>
            <a:cxnLst/>
            <a:rect r="r" b="b" t="t" l="l"/>
            <a:pathLst>
              <a:path h="660487" w="2028084">
                <a:moveTo>
                  <a:pt x="0" y="0"/>
                </a:moveTo>
                <a:lnTo>
                  <a:pt x="2028084" y="0"/>
                </a:lnTo>
                <a:lnTo>
                  <a:pt x="2028084" y="660488"/>
                </a:lnTo>
                <a:lnTo>
                  <a:pt x="0" y="660488"/>
                </a:lnTo>
                <a:lnTo>
                  <a:pt x="0" y="0"/>
                </a:lnTo>
                <a:close/>
              </a:path>
            </a:pathLst>
          </a:custGeom>
          <a:blipFill>
            <a:blip r:embed="rId18"/>
            <a:stretch>
              <a:fillRect l="0" t="0" r="0" b="0"/>
            </a:stretch>
          </a:blipFill>
        </p:spPr>
      </p:sp>
      <p:sp>
        <p:nvSpPr>
          <p:cNvPr name="Freeform 17" id="17"/>
          <p:cNvSpPr/>
          <p:nvPr/>
        </p:nvSpPr>
        <p:spPr>
          <a:xfrm flipH="false" flipV="false" rot="0">
            <a:off x="3621817" y="8383753"/>
            <a:ext cx="11301259" cy="773421"/>
          </a:xfrm>
          <a:custGeom>
            <a:avLst/>
            <a:gdLst/>
            <a:ahLst/>
            <a:cxnLst/>
            <a:rect r="r" b="b" t="t" l="l"/>
            <a:pathLst>
              <a:path h="773421" w="11301259">
                <a:moveTo>
                  <a:pt x="0" y="0"/>
                </a:moveTo>
                <a:lnTo>
                  <a:pt x="11301259" y="0"/>
                </a:lnTo>
                <a:lnTo>
                  <a:pt x="11301259" y="773421"/>
                </a:lnTo>
                <a:lnTo>
                  <a:pt x="0" y="773421"/>
                </a:lnTo>
                <a:lnTo>
                  <a:pt x="0" y="0"/>
                </a:lnTo>
                <a:close/>
              </a:path>
            </a:pathLst>
          </a:custGeom>
          <a:blipFill>
            <a:blip r:embed="rId19"/>
            <a:stretch>
              <a:fillRect l="0" t="-40640" r="0" b="0"/>
            </a:stretch>
          </a:blipFill>
          <a:ln w="28575" cap="sq">
            <a:solidFill>
              <a:srgbClr val="FF3131"/>
            </a:solidFill>
            <a:prstDash val="lgDash"/>
            <a:miter/>
          </a:ln>
        </p:spPr>
      </p:sp>
      <p:sp>
        <p:nvSpPr>
          <p:cNvPr name="TextBox 18" id="1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9" id="1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20" id="20"/>
          <p:cNvSpPr txBox="true"/>
          <p:nvPr/>
        </p:nvSpPr>
        <p:spPr>
          <a:xfrm rot="0">
            <a:off x="102811" y="54207"/>
            <a:ext cx="12294825" cy="15373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3.3. Diseño del sistema de control DMC MIMO </a:t>
            </a:r>
          </a:p>
          <a:p>
            <a:pPr algn="l">
              <a:lnSpc>
                <a:spcPts val="3219"/>
              </a:lnSpc>
            </a:pPr>
          </a:p>
          <a:p>
            <a:pPr algn="l">
              <a:lnSpc>
                <a:spcPts val="3219"/>
              </a:lnSpc>
            </a:pPr>
          </a:p>
        </p:txBody>
      </p:sp>
      <p:sp>
        <p:nvSpPr>
          <p:cNvPr name="TextBox 21" id="21"/>
          <p:cNvSpPr txBox="true"/>
          <p:nvPr/>
        </p:nvSpPr>
        <p:spPr>
          <a:xfrm rot="0">
            <a:off x="119034" y="942975"/>
            <a:ext cx="6131190"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Times New Roman Bold"/>
                <a:ea typeface="Times New Roman Bold"/>
                <a:cs typeface="Times New Roman Bold"/>
                <a:sym typeface="Times New Roman Bold"/>
              </a:rPr>
              <a:t>Sintonización de parametros del GPC</a:t>
            </a:r>
          </a:p>
        </p:txBody>
      </p:sp>
      <p:sp>
        <p:nvSpPr>
          <p:cNvPr name="TextBox 22" id="22"/>
          <p:cNvSpPr txBox="true"/>
          <p:nvPr/>
        </p:nvSpPr>
        <p:spPr>
          <a:xfrm rot="0">
            <a:off x="102811" y="2134122"/>
            <a:ext cx="6674975" cy="408305"/>
          </a:xfrm>
          <a:prstGeom prst="rect">
            <a:avLst/>
          </a:prstGeom>
        </p:spPr>
        <p:txBody>
          <a:bodyPr anchor="t" rtlCol="false" tIns="0" lIns="0" bIns="0" rIns="0">
            <a:spAutoFit/>
          </a:bodyPr>
          <a:lstStyle/>
          <a:p>
            <a:pPr algn="ctr">
              <a:lnSpc>
                <a:spcPts val="3220"/>
              </a:lnSpc>
              <a:spcBef>
                <a:spcPct val="0"/>
              </a:spcBef>
            </a:pPr>
            <a:r>
              <a:rPr lang="en-US" sz="2300">
                <a:solidFill>
                  <a:srgbClr val="000000"/>
                </a:solidFill>
                <a:latin typeface="Times New Roman"/>
                <a:ea typeface="Times New Roman"/>
                <a:cs typeface="Times New Roman"/>
                <a:sym typeface="Times New Roman"/>
              </a:rPr>
              <a:t>Se aproxima cada par entrada–salida como primer orden:</a:t>
            </a:r>
          </a:p>
        </p:txBody>
      </p:sp>
      <p:sp>
        <p:nvSpPr>
          <p:cNvPr name="TextBox 23" id="23"/>
          <p:cNvSpPr txBox="true"/>
          <p:nvPr/>
        </p:nvSpPr>
        <p:spPr>
          <a:xfrm rot="0">
            <a:off x="54128" y="1695682"/>
            <a:ext cx="2677253"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1.</a:t>
            </a:r>
            <a:r>
              <a:rPr lang="en-US" b="true" sz="2300">
                <a:solidFill>
                  <a:srgbClr val="000000"/>
                </a:solidFill>
                <a:latin typeface="Times New Roman Bold"/>
                <a:ea typeface="Times New Roman Bold"/>
                <a:cs typeface="Times New Roman Bold"/>
                <a:sym typeface="Times New Roman Bold"/>
              </a:rPr>
              <a:t> Modelo del sistema</a:t>
            </a:r>
          </a:p>
        </p:txBody>
      </p:sp>
      <p:sp>
        <p:nvSpPr>
          <p:cNvPr name="TextBox 24" id="24"/>
          <p:cNvSpPr txBox="true"/>
          <p:nvPr/>
        </p:nvSpPr>
        <p:spPr>
          <a:xfrm rot="0">
            <a:off x="54128" y="3869849"/>
            <a:ext cx="3085637"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2.</a:t>
            </a:r>
            <a:r>
              <a:rPr lang="en-US" b="true" sz="2300">
                <a:solidFill>
                  <a:srgbClr val="000000"/>
                </a:solidFill>
                <a:latin typeface="Times New Roman Bold"/>
                <a:ea typeface="Times New Roman Bold"/>
                <a:cs typeface="Times New Roman Bold"/>
                <a:sym typeface="Times New Roman Bold"/>
              </a:rPr>
              <a:t> Parámetros dinámicos</a:t>
            </a:r>
          </a:p>
        </p:txBody>
      </p:sp>
      <p:sp>
        <p:nvSpPr>
          <p:cNvPr name="TextBox 25" id="25"/>
          <p:cNvSpPr txBox="true"/>
          <p:nvPr/>
        </p:nvSpPr>
        <p:spPr>
          <a:xfrm rot="0">
            <a:off x="185129" y="5664315"/>
            <a:ext cx="2823633"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3.</a:t>
            </a:r>
            <a:r>
              <a:rPr lang="en-US" b="true" sz="2300">
                <a:solidFill>
                  <a:srgbClr val="000000"/>
                </a:solidFill>
                <a:latin typeface="Times New Roman Bold"/>
                <a:ea typeface="Times New Roman Bold"/>
                <a:cs typeface="Times New Roman Bold"/>
                <a:sym typeface="Times New Roman Bold"/>
              </a:rPr>
              <a:t> Tiempo de muestreo</a:t>
            </a:r>
          </a:p>
        </p:txBody>
      </p:sp>
      <p:sp>
        <p:nvSpPr>
          <p:cNvPr name="TextBox 26" id="26"/>
          <p:cNvSpPr txBox="true"/>
          <p:nvPr/>
        </p:nvSpPr>
        <p:spPr>
          <a:xfrm rot="0">
            <a:off x="5299642" y="5664315"/>
            <a:ext cx="3440298"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4.</a:t>
            </a:r>
            <a:r>
              <a:rPr lang="en-US" b="true" sz="2300">
                <a:solidFill>
                  <a:srgbClr val="000000"/>
                </a:solidFill>
                <a:latin typeface="Times New Roman Bold"/>
                <a:ea typeface="Times New Roman Bold"/>
                <a:cs typeface="Times New Roman Bold"/>
                <a:sym typeface="Times New Roman Bold"/>
              </a:rPr>
              <a:t> Horizonte de predicción</a:t>
            </a:r>
          </a:p>
        </p:txBody>
      </p:sp>
      <p:sp>
        <p:nvSpPr>
          <p:cNvPr name="TextBox 27" id="27"/>
          <p:cNvSpPr txBox="true"/>
          <p:nvPr/>
        </p:nvSpPr>
        <p:spPr>
          <a:xfrm rot="0">
            <a:off x="11569957" y="5664315"/>
            <a:ext cx="3440298" cy="408305"/>
          </a:xfrm>
          <a:prstGeom prst="rect">
            <a:avLst/>
          </a:prstGeom>
        </p:spPr>
        <p:txBody>
          <a:bodyPr anchor="t" rtlCol="false" tIns="0" lIns="0" bIns="0" rIns="0">
            <a:spAutoFit/>
          </a:bodyPr>
          <a:lstStyle/>
          <a:p>
            <a:pPr algn="ctr">
              <a:lnSpc>
                <a:spcPts val="3220"/>
              </a:lnSpc>
              <a:spcBef>
                <a:spcPct val="0"/>
              </a:spcBef>
            </a:pPr>
            <a:r>
              <a:rPr lang="en-US" b="true" sz="2300">
                <a:solidFill>
                  <a:srgbClr val="000000"/>
                </a:solidFill>
                <a:latin typeface="Times New Roman Bold"/>
                <a:ea typeface="Times New Roman Bold"/>
                <a:cs typeface="Times New Roman Bold"/>
                <a:sym typeface="Times New Roman Bold"/>
              </a:rPr>
              <a:t>5.</a:t>
            </a:r>
            <a:r>
              <a:rPr lang="en-US" b="true" sz="2300">
                <a:solidFill>
                  <a:srgbClr val="000000"/>
                </a:solidFill>
                <a:latin typeface="Times New Roman Bold"/>
                <a:ea typeface="Times New Roman Bold"/>
                <a:cs typeface="Times New Roman Bold"/>
                <a:sym typeface="Times New Roman Bold"/>
              </a:rPr>
              <a:t> Horizonte de control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493371" y="2205173"/>
            <a:ext cx="11301259" cy="5876655"/>
          </a:xfrm>
          <a:custGeom>
            <a:avLst/>
            <a:gdLst/>
            <a:ahLst/>
            <a:cxnLst/>
            <a:rect r="r" b="b" t="t" l="l"/>
            <a:pathLst>
              <a:path h="5876655" w="11301259">
                <a:moveTo>
                  <a:pt x="0" y="0"/>
                </a:moveTo>
                <a:lnTo>
                  <a:pt x="11301258" y="0"/>
                </a:lnTo>
                <a:lnTo>
                  <a:pt x="11301258" y="5876654"/>
                </a:lnTo>
                <a:lnTo>
                  <a:pt x="0" y="5876654"/>
                </a:lnTo>
                <a:lnTo>
                  <a:pt x="0" y="0"/>
                </a:lnTo>
                <a:close/>
              </a:path>
            </a:pathLst>
          </a:custGeom>
          <a:blipFill>
            <a:blip r:embed="rId9"/>
            <a:stretch>
              <a:fillRect l="0" t="0" r="0" b="0"/>
            </a:stretch>
          </a:blipFill>
        </p:spPr>
      </p:sp>
      <p:sp>
        <p:nvSpPr>
          <p:cNvPr name="TextBox 8" id="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9" id="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0" id="10"/>
          <p:cNvSpPr txBox="true"/>
          <p:nvPr/>
        </p:nvSpPr>
        <p:spPr>
          <a:xfrm rot="0">
            <a:off x="102811" y="54207"/>
            <a:ext cx="12294825" cy="15373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3.3. Diseño del sistema de control DMC MIMO </a:t>
            </a:r>
          </a:p>
          <a:p>
            <a:pPr algn="l">
              <a:lnSpc>
                <a:spcPts val="3219"/>
              </a:lnSpc>
            </a:pPr>
          </a:p>
          <a:p>
            <a:pPr algn="l">
              <a:lnSpc>
                <a:spcPts val="321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2734" y="2460302"/>
            <a:ext cx="8811266" cy="4647943"/>
          </a:xfrm>
          <a:custGeom>
            <a:avLst/>
            <a:gdLst/>
            <a:ahLst/>
            <a:cxnLst/>
            <a:rect r="r" b="b" t="t" l="l"/>
            <a:pathLst>
              <a:path h="4647943" w="8811266">
                <a:moveTo>
                  <a:pt x="0" y="0"/>
                </a:moveTo>
                <a:lnTo>
                  <a:pt x="8811266" y="0"/>
                </a:lnTo>
                <a:lnTo>
                  <a:pt x="8811266" y="4647943"/>
                </a:lnTo>
                <a:lnTo>
                  <a:pt x="0" y="4647943"/>
                </a:lnTo>
                <a:lnTo>
                  <a:pt x="0" y="0"/>
                </a:lnTo>
                <a:close/>
              </a:path>
            </a:pathLst>
          </a:custGeom>
          <a:blipFill>
            <a:blip r:embed="rId9"/>
            <a:stretch>
              <a:fillRect l="0" t="0" r="0" b="0"/>
            </a:stretch>
          </a:blipFill>
        </p:spPr>
      </p:sp>
      <p:sp>
        <p:nvSpPr>
          <p:cNvPr name="Freeform 8" id="8"/>
          <p:cNvSpPr/>
          <p:nvPr/>
        </p:nvSpPr>
        <p:spPr>
          <a:xfrm flipH="false" flipV="false" rot="0">
            <a:off x="9459629" y="2452866"/>
            <a:ext cx="8621073" cy="4655379"/>
          </a:xfrm>
          <a:custGeom>
            <a:avLst/>
            <a:gdLst/>
            <a:ahLst/>
            <a:cxnLst/>
            <a:rect r="r" b="b" t="t" l="l"/>
            <a:pathLst>
              <a:path h="4655379" w="8621073">
                <a:moveTo>
                  <a:pt x="0" y="0"/>
                </a:moveTo>
                <a:lnTo>
                  <a:pt x="8621073" y="0"/>
                </a:lnTo>
                <a:lnTo>
                  <a:pt x="8621073" y="4655379"/>
                </a:lnTo>
                <a:lnTo>
                  <a:pt x="0" y="4655379"/>
                </a:lnTo>
                <a:lnTo>
                  <a:pt x="0" y="0"/>
                </a:lnTo>
                <a:close/>
              </a:path>
            </a:pathLst>
          </a:custGeom>
          <a:blipFill>
            <a:blip r:embed="rId10"/>
            <a:stretch>
              <a:fillRect l="0" t="0" r="0" b="0"/>
            </a:stretch>
          </a:blipFill>
        </p:spPr>
      </p:sp>
      <p:sp>
        <p:nvSpPr>
          <p:cNvPr name="TextBox 9" id="9"/>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10" id="10"/>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1" id="11"/>
          <p:cNvSpPr txBox="true"/>
          <p:nvPr/>
        </p:nvSpPr>
        <p:spPr>
          <a:xfrm rot="0">
            <a:off x="102811" y="54207"/>
            <a:ext cx="12294825" cy="15373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3.3. Diseño del sistema de control DMC MIMO </a:t>
            </a:r>
          </a:p>
          <a:p>
            <a:pPr algn="l">
              <a:lnSpc>
                <a:spcPts val="3219"/>
              </a:lnSpc>
            </a:pPr>
          </a:p>
          <a:p>
            <a:pPr algn="l">
              <a:lnSpc>
                <a:spcPts val="3219"/>
              </a:lnSpc>
            </a:pPr>
          </a:p>
        </p:txBody>
      </p:sp>
      <p:sp>
        <p:nvSpPr>
          <p:cNvPr name="TextBox 12" id="12"/>
          <p:cNvSpPr txBox="true"/>
          <p:nvPr/>
        </p:nvSpPr>
        <p:spPr>
          <a:xfrm rot="0">
            <a:off x="2986230" y="7365052"/>
            <a:ext cx="3504274" cy="200660"/>
          </a:xfrm>
          <a:prstGeom prst="rect">
            <a:avLst/>
          </a:prstGeom>
        </p:spPr>
        <p:txBody>
          <a:bodyPr anchor="t" rtlCol="false" tIns="0" lIns="0" bIns="0" rIns="0">
            <a:spAutoFit/>
          </a:bodyPr>
          <a:lstStyle/>
          <a:p>
            <a:pPr algn="ctr">
              <a:lnSpc>
                <a:spcPts val="1540"/>
              </a:lnSpc>
              <a:spcBef>
                <a:spcPct val="0"/>
              </a:spcBef>
            </a:pPr>
            <a:r>
              <a:rPr lang="en-US" b="true" sz="1100">
                <a:solidFill>
                  <a:srgbClr val="000000"/>
                </a:solidFill>
                <a:latin typeface="Times New Roman Bold"/>
                <a:ea typeface="Times New Roman Bold"/>
                <a:cs typeface="Times New Roman Bold"/>
                <a:sym typeface="Times New Roman Bold"/>
              </a:rPr>
              <a:t>Figura 3.4: Respuesta del sistema para lambda igual a 0.01</a:t>
            </a:r>
          </a:p>
        </p:txBody>
      </p:sp>
      <p:sp>
        <p:nvSpPr>
          <p:cNvPr name="TextBox 13" id="13"/>
          <p:cNvSpPr txBox="true"/>
          <p:nvPr/>
        </p:nvSpPr>
        <p:spPr>
          <a:xfrm rot="0">
            <a:off x="12069688" y="7312347"/>
            <a:ext cx="3400954" cy="200660"/>
          </a:xfrm>
          <a:prstGeom prst="rect">
            <a:avLst/>
          </a:prstGeom>
        </p:spPr>
        <p:txBody>
          <a:bodyPr anchor="t" rtlCol="false" tIns="0" lIns="0" bIns="0" rIns="0">
            <a:spAutoFit/>
          </a:bodyPr>
          <a:lstStyle/>
          <a:p>
            <a:pPr algn="ctr">
              <a:lnSpc>
                <a:spcPts val="1540"/>
              </a:lnSpc>
              <a:spcBef>
                <a:spcPct val="0"/>
              </a:spcBef>
            </a:pPr>
            <a:r>
              <a:rPr lang="en-US" b="true" sz="1100">
                <a:solidFill>
                  <a:srgbClr val="000000"/>
                </a:solidFill>
                <a:latin typeface="Times New Roman Bold"/>
                <a:ea typeface="Times New Roman Bold"/>
                <a:cs typeface="Times New Roman Bold"/>
                <a:sym typeface="Times New Roman Bold"/>
              </a:rPr>
              <a:t>Figura 3.4: Variables de control para lambda igual a 0.01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079038" y="996038"/>
            <a:ext cx="10276554" cy="8118477"/>
          </a:xfrm>
          <a:custGeom>
            <a:avLst/>
            <a:gdLst/>
            <a:ahLst/>
            <a:cxnLst/>
            <a:rect r="r" b="b" t="t" l="l"/>
            <a:pathLst>
              <a:path h="8118477" w="10276554">
                <a:moveTo>
                  <a:pt x="10276554" y="0"/>
                </a:moveTo>
                <a:lnTo>
                  <a:pt x="0" y="0"/>
                </a:lnTo>
                <a:lnTo>
                  <a:pt x="0" y="8118477"/>
                </a:lnTo>
                <a:lnTo>
                  <a:pt x="10276554" y="8118477"/>
                </a:lnTo>
                <a:lnTo>
                  <a:pt x="10276554"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688752" y="9364834"/>
            <a:ext cx="19665504" cy="3289634"/>
          </a:xfrm>
          <a:custGeom>
            <a:avLst/>
            <a:gdLst/>
            <a:ahLst/>
            <a:cxnLst/>
            <a:rect r="r" b="b" t="t" l="l"/>
            <a:pathLst>
              <a:path h="3289634" w="19665504">
                <a:moveTo>
                  <a:pt x="0" y="0"/>
                </a:moveTo>
                <a:lnTo>
                  <a:pt x="19665504" y="0"/>
                </a:lnTo>
                <a:lnTo>
                  <a:pt x="19665504" y="3289634"/>
                </a:lnTo>
                <a:lnTo>
                  <a:pt x="0" y="32896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5400000">
            <a:off x="8443273" y="-720157"/>
            <a:ext cx="10266108" cy="9996623"/>
          </a:xfrm>
          <a:custGeom>
            <a:avLst/>
            <a:gdLst/>
            <a:ahLst/>
            <a:cxnLst/>
            <a:rect r="r" b="b" t="t" l="l"/>
            <a:pathLst>
              <a:path h="9996623" w="10266108">
                <a:moveTo>
                  <a:pt x="0" y="9996623"/>
                </a:moveTo>
                <a:lnTo>
                  <a:pt x="10266108" y="9996623"/>
                </a:lnTo>
                <a:lnTo>
                  <a:pt x="10266108" y="0"/>
                </a:lnTo>
                <a:lnTo>
                  <a:pt x="0" y="0"/>
                </a:lnTo>
                <a:lnTo>
                  <a:pt x="0" y="9996623"/>
                </a:lnTo>
                <a:close/>
              </a:path>
            </a:pathLst>
          </a:custGeom>
          <a:blipFill>
            <a:blip r:embed="rId6">
              <a:alphaModFix amt="65999"/>
              <a:extLst>
                <a:ext uri="{96DAC541-7B7A-43D3-8B79-37D633B846F1}">
                  <asvg:svgBlip xmlns:asvg="http://schemas.microsoft.com/office/drawing/2016/SVG/main" r:embed="rId7"/>
                </a:ext>
              </a:extLst>
            </a:blip>
            <a:stretch>
              <a:fillRect l="0" t="-14" r="0" b="-14"/>
            </a:stretch>
          </a:blipFill>
          <a:ln cap="sq">
            <a:noFill/>
            <a:prstDash val="solid"/>
            <a:miter/>
          </a:ln>
        </p:spPr>
      </p:sp>
      <p:sp>
        <p:nvSpPr>
          <p:cNvPr name="Freeform 5" id="5"/>
          <p:cNvSpPr/>
          <p:nvPr/>
        </p:nvSpPr>
        <p:spPr>
          <a:xfrm flipH="false" flipV="false" rot="0">
            <a:off x="14537583" y="158582"/>
            <a:ext cx="3750417" cy="870118"/>
          </a:xfrm>
          <a:custGeom>
            <a:avLst/>
            <a:gdLst/>
            <a:ahLst/>
            <a:cxnLst/>
            <a:rect r="r" b="b" t="t" l="l"/>
            <a:pathLst>
              <a:path h="870118" w="3750417">
                <a:moveTo>
                  <a:pt x="0" y="0"/>
                </a:moveTo>
                <a:lnTo>
                  <a:pt x="3750417" y="0"/>
                </a:lnTo>
                <a:lnTo>
                  <a:pt x="3750417" y="870118"/>
                </a:lnTo>
                <a:lnTo>
                  <a:pt x="0" y="870118"/>
                </a:lnTo>
                <a:lnTo>
                  <a:pt x="0" y="0"/>
                </a:lnTo>
                <a:close/>
              </a:path>
            </a:pathLst>
          </a:custGeom>
          <a:blipFill>
            <a:blip r:embed="rId8"/>
            <a:stretch>
              <a:fillRect l="0" t="-53331" r="0" b="-54637"/>
            </a:stretch>
          </a:blipFill>
        </p:spPr>
      </p:sp>
      <p:sp>
        <p:nvSpPr>
          <p:cNvPr name="Freeform 6" id="6"/>
          <p:cNvSpPr/>
          <p:nvPr/>
        </p:nvSpPr>
        <p:spPr>
          <a:xfrm flipH="false" flipV="false" rot="0">
            <a:off x="0" y="-1250995"/>
            <a:ext cx="12397636" cy="2073869"/>
          </a:xfrm>
          <a:custGeom>
            <a:avLst/>
            <a:gdLst/>
            <a:ahLst/>
            <a:cxnLst/>
            <a:rect r="r" b="b" t="t" l="l"/>
            <a:pathLst>
              <a:path h="2073869" w="12397636">
                <a:moveTo>
                  <a:pt x="0" y="0"/>
                </a:moveTo>
                <a:lnTo>
                  <a:pt x="12397636" y="0"/>
                </a:lnTo>
                <a:lnTo>
                  <a:pt x="12397636" y="2073870"/>
                </a:lnTo>
                <a:lnTo>
                  <a:pt x="0" y="20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236324" y="2129649"/>
            <a:ext cx="11301259" cy="5523490"/>
          </a:xfrm>
          <a:custGeom>
            <a:avLst/>
            <a:gdLst/>
            <a:ahLst/>
            <a:cxnLst/>
            <a:rect r="r" b="b" t="t" l="l"/>
            <a:pathLst>
              <a:path h="5523490" w="11301259">
                <a:moveTo>
                  <a:pt x="0" y="0"/>
                </a:moveTo>
                <a:lnTo>
                  <a:pt x="11301259" y="0"/>
                </a:lnTo>
                <a:lnTo>
                  <a:pt x="11301259" y="5523491"/>
                </a:lnTo>
                <a:lnTo>
                  <a:pt x="0" y="5523491"/>
                </a:lnTo>
                <a:lnTo>
                  <a:pt x="0" y="0"/>
                </a:lnTo>
                <a:close/>
              </a:path>
            </a:pathLst>
          </a:custGeom>
          <a:blipFill>
            <a:blip r:embed="rId9"/>
            <a:stretch>
              <a:fillRect l="0" t="0" r="0" b="0"/>
            </a:stretch>
          </a:blipFill>
        </p:spPr>
      </p:sp>
      <p:sp>
        <p:nvSpPr>
          <p:cNvPr name="TextBox 8" id="8"/>
          <p:cNvSpPr txBox="true"/>
          <p:nvPr/>
        </p:nvSpPr>
        <p:spPr>
          <a:xfrm rot="0">
            <a:off x="102811" y="9607640"/>
            <a:ext cx="9870479" cy="58591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DISEÑO DEL</a:t>
            </a:r>
            <a:r>
              <a:rPr lang="en-US" b="true" sz="1540">
                <a:solidFill>
                  <a:srgbClr val="FFFFFF"/>
                </a:solidFill>
                <a:latin typeface="Times New Roman Bold"/>
                <a:ea typeface="Times New Roman Bold"/>
                <a:cs typeface="Times New Roman Bold"/>
                <a:sym typeface="Times New Roman Bold"/>
              </a:rPr>
              <a:t> CONTROL DE NIVEL PARA UN SISTEMA DE CUATRO TANQUES ACOPLADOS</a:t>
            </a:r>
          </a:p>
          <a:p>
            <a:pPr algn="l">
              <a:lnSpc>
                <a:spcPts val="2156"/>
              </a:lnSpc>
            </a:pPr>
            <a:r>
              <a:rPr lang="en-US" b="true" sz="1540">
                <a:solidFill>
                  <a:srgbClr val="FFFFFF"/>
                </a:solidFill>
                <a:latin typeface="Times New Roman Bold"/>
                <a:ea typeface="Times New Roman Bold"/>
                <a:cs typeface="Times New Roman Bold"/>
                <a:sym typeface="Times New Roman Bold"/>
              </a:rPr>
              <a:t>MEDIANTE CONTROL PREDICTIVO</a:t>
            </a:r>
          </a:p>
          <a:p>
            <a:pPr algn="l">
              <a:lnSpc>
                <a:spcPts val="104"/>
              </a:lnSpc>
            </a:pPr>
          </a:p>
        </p:txBody>
      </p:sp>
      <p:sp>
        <p:nvSpPr>
          <p:cNvPr name="TextBox 9" id="9"/>
          <p:cNvSpPr txBox="true"/>
          <p:nvPr/>
        </p:nvSpPr>
        <p:spPr>
          <a:xfrm rot="0">
            <a:off x="13235333" y="9734640"/>
            <a:ext cx="5670000" cy="312863"/>
          </a:xfrm>
          <a:prstGeom prst="rect">
            <a:avLst/>
          </a:prstGeom>
        </p:spPr>
        <p:txBody>
          <a:bodyPr anchor="t" rtlCol="false" tIns="0" lIns="0" bIns="0" rIns="0">
            <a:spAutoFit/>
          </a:bodyPr>
          <a:lstStyle/>
          <a:p>
            <a:pPr algn="l">
              <a:lnSpc>
                <a:spcPts val="2156"/>
              </a:lnSpc>
            </a:pPr>
            <a:r>
              <a:rPr lang="en-US" sz="1540" b="true">
                <a:solidFill>
                  <a:srgbClr val="FFFFFF"/>
                </a:solidFill>
                <a:latin typeface="Times New Roman Bold"/>
                <a:ea typeface="Times New Roman Bold"/>
                <a:cs typeface="Times New Roman Bold"/>
                <a:sym typeface="Times New Roman Bold"/>
              </a:rPr>
              <a:t>2026-1 TRABAJO DE </a:t>
            </a:r>
            <a:r>
              <a:rPr lang="en-US" sz="1540" b="true">
                <a:solidFill>
                  <a:srgbClr val="FFFFFF"/>
                </a:solidFill>
                <a:latin typeface="Times New Roman Bold"/>
                <a:ea typeface="Times New Roman Bold"/>
                <a:cs typeface="Times New Roman Bold"/>
                <a:sym typeface="Times New Roman Bold"/>
              </a:rPr>
              <a:t>TESIS 2 (IEE309-1021)</a:t>
            </a:r>
          </a:p>
          <a:p>
            <a:pPr algn="l">
              <a:lnSpc>
                <a:spcPts val="104"/>
              </a:lnSpc>
            </a:pPr>
          </a:p>
        </p:txBody>
      </p:sp>
      <p:sp>
        <p:nvSpPr>
          <p:cNvPr name="TextBox 10" id="10"/>
          <p:cNvSpPr txBox="true"/>
          <p:nvPr/>
        </p:nvSpPr>
        <p:spPr>
          <a:xfrm rot="0">
            <a:off x="102811" y="54207"/>
            <a:ext cx="12294825" cy="1537335"/>
          </a:xfrm>
          <a:prstGeom prst="rect">
            <a:avLst/>
          </a:prstGeom>
        </p:spPr>
        <p:txBody>
          <a:bodyPr anchor="t" rtlCol="false" tIns="0" lIns="0" bIns="0" rIns="0">
            <a:spAutoFit/>
          </a:bodyPr>
          <a:lstStyle/>
          <a:p>
            <a:pPr algn="l">
              <a:lnSpc>
                <a:spcPts val="2659"/>
              </a:lnSpc>
            </a:pPr>
            <a:r>
              <a:rPr lang="en-US" sz="1899" b="true">
                <a:solidFill>
                  <a:srgbClr val="FFFFFF"/>
                </a:solidFill>
                <a:latin typeface="Times New Roman Bold"/>
                <a:ea typeface="Times New Roman Bold"/>
                <a:cs typeface="Times New Roman Bold"/>
                <a:sym typeface="Times New Roman Bold"/>
              </a:rPr>
              <a:t>3. Diseño del Controlador predictivo GPC para el sistema hidráulico de cuatro tanques acoplados (TITO).</a:t>
            </a:r>
          </a:p>
          <a:p>
            <a:pPr algn="l">
              <a:lnSpc>
                <a:spcPts val="3219"/>
              </a:lnSpc>
            </a:pPr>
            <a:r>
              <a:rPr lang="en-US" sz="2299" b="true">
                <a:solidFill>
                  <a:srgbClr val="FFFFFF"/>
                </a:solidFill>
                <a:latin typeface="Times New Roman Bold"/>
                <a:ea typeface="Times New Roman Bold"/>
                <a:cs typeface="Times New Roman Bold"/>
                <a:sym typeface="Times New Roman Bold"/>
              </a:rPr>
              <a:t>      3.3. Diseño del sistema de control DMC MIMO </a:t>
            </a:r>
          </a:p>
          <a:p>
            <a:pPr algn="l">
              <a:lnSpc>
                <a:spcPts val="3219"/>
              </a:lnSpc>
            </a:pPr>
          </a:p>
          <a:p>
            <a:pPr algn="l">
              <a:lnSpc>
                <a:spcPts val="3219"/>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604809" y="1200150"/>
            <a:ext cx="9344306" cy="917701"/>
          </a:xfrm>
          <a:prstGeom prst="rect">
            <a:avLst/>
          </a:prstGeom>
        </p:spPr>
        <p:txBody>
          <a:bodyPr anchor="t" rtlCol="false" tIns="0" lIns="0" bIns="0" rIns="0">
            <a:spAutoFit/>
          </a:bodyPr>
          <a:lstStyle/>
          <a:p>
            <a:pPr algn="l">
              <a:lnSpc>
                <a:spcPts val="8133"/>
              </a:lnSpc>
            </a:pPr>
            <a:r>
              <a:rPr lang="en-US" sz="8299" b="true">
                <a:solidFill>
                  <a:srgbClr val="0B1320"/>
                </a:solidFill>
                <a:latin typeface="League Spartan"/>
                <a:ea typeface="League Spartan"/>
                <a:cs typeface="League Spartan"/>
                <a:sym typeface="League Spartan"/>
              </a:rPr>
              <a:t>Bibliografía</a:t>
            </a:r>
          </a:p>
        </p:txBody>
      </p:sp>
      <p:sp>
        <p:nvSpPr>
          <p:cNvPr name="Freeform 3" id="3"/>
          <p:cNvSpPr/>
          <p:nvPr/>
        </p:nvSpPr>
        <p:spPr>
          <a:xfrm flipH="false" flipV="false" rot="0">
            <a:off x="14779380" y="-1766623"/>
            <a:ext cx="7771510" cy="11016700"/>
          </a:xfrm>
          <a:custGeom>
            <a:avLst/>
            <a:gdLst/>
            <a:ahLst/>
            <a:cxnLst/>
            <a:rect r="r" b="b" t="t" l="l"/>
            <a:pathLst>
              <a:path h="11016700" w="7771510">
                <a:moveTo>
                  <a:pt x="0" y="0"/>
                </a:moveTo>
                <a:lnTo>
                  <a:pt x="7771509" y="0"/>
                </a:lnTo>
                <a:lnTo>
                  <a:pt x="7771509" y="11016700"/>
                </a:lnTo>
                <a:lnTo>
                  <a:pt x="0" y="110167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32340" y="-5443226"/>
            <a:ext cx="9868557" cy="9068286"/>
          </a:xfrm>
          <a:custGeom>
            <a:avLst/>
            <a:gdLst/>
            <a:ahLst/>
            <a:cxnLst/>
            <a:rect r="r" b="b" t="t" l="l"/>
            <a:pathLst>
              <a:path h="9068286" w="9868557">
                <a:moveTo>
                  <a:pt x="0" y="0"/>
                </a:moveTo>
                <a:lnTo>
                  <a:pt x="9868556" y="0"/>
                </a:lnTo>
                <a:lnTo>
                  <a:pt x="9868556" y="9068286"/>
                </a:lnTo>
                <a:lnTo>
                  <a:pt x="0" y="90682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2880474">
            <a:off x="14835246" y="-2845768"/>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6">
              <a:alphaModFix amt="64000"/>
              <a:extLst>
                <a:ext uri="{96DAC541-7B7A-43D3-8B79-37D633B846F1}">
                  <asvg:svgBlip xmlns:asvg="http://schemas.microsoft.com/office/drawing/2016/SVG/main" r:embed="rId7"/>
                </a:ext>
              </a:extLst>
            </a:blip>
            <a:stretch>
              <a:fillRect l="-30990" t="0" r="-30990" b="0"/>
            </a:stretch>
          </a:blipFill>
        </p:spPr>
      </p:sp>
      <p:sp>
        <p:nvSpPr>
          <p:cNvPr name="TextBox 6" id="6"/>
          <p:cNvSpPr txBox="true"/>
          <p:nvPr/>
        </p:nvSpPr>
        <p:spPr>
          <a:xfrm rot="0">
            <a:off x="604809" y="2629584"/>
            <a:ext cx="16906721" cy="7390319"/>
          </a:xfrm>
          <a:prstGeom prst="rect">
            <a:avLst/>
          </a:prstGeom>
        </p:spPr>
        <p:txBody>
          <a:bodyPr anchor="t" rtlCol="false" tIns="0" lIns="0" bIns="0" rIns="0">
            <a:spAutoFit/>
          </a:bodyPr>
          <a:lstStyle/>
          <a:p>
            <a:pPr algn="just">
              <a:lnSpc>
                <a:spcPts val="1638"/>
              </a:lnSpc>
            </a:pPr>
            <a:r>
              <a:rPr lang="en-US" sz="1171" b="true">
                <a:solidFill>
                  <a:srgbClr val="0B1320"/>
                </a:solidFill>
                <a:latin typeface="Open Sans 1 Bold"/>
                <a:ea typeface="Open Sans 1 Bold"/>
                <a:cs typeface="Open Sans 1 Bold"/>
                <a:sym typeface="Open Sans 1 Bold"/>
              </a:rPr>
              <a:t>[1] E. Laubwald, “Coupled tank system,” Control Systems Principles, pp. 1-8, (2005).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[2] W. Yuan, "Mathematical Model Analysis and Control Strategy," 2023 International Conference on Mechatronics, Control and Robotics (ICMCR), Jeju, Korea, Republic of, 2023, pp. 94-97, doi: 10.1109/ICMCR56776.2023.10181040.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[3] Short, M., &amp; Selvakumar, A. (2020). Non-Linear Tank Level Control for Industrial Applications. Applied Mathematics.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[4] A. Numsomran, V. Tipsuwanporn and K. Tirasesth, "Modeling of the modified Quadruple-Tank Process," 2008 SICE Annual Conference, Chofu, Japan, 2008, pp. 818-823, doi: 10.1109/SICE.2008.4654768. keywords: {Mathematical model;Valves;Control systems;Water conservation;Uncertainty;Process control;Aerospace electronics;Modified Quadruple-Tank Process},</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[5] S. N. M. Azam and J. B. Jørgensen, "Modeling and simulation of a modified quadruple tank system," 2015 IEEE International Conference on Control System, Computing and Engineering (ICCSCE), Penang, Malaysia, 2015, pp. 365-370, doi: 10.1109/ICCSCE.2015.7482213. keywords: {Mathematical model;Stochastic processes;Noise measurement;Sensors;Steady-state;Computational modeling;Process control;Modified quadruple-tank process;modeling;simulations;stochastic;steady states},</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[6] Yu, Y., Yang, H., Wan, S., Liu, Q. y Yan, J. (2024). Un método de control cooperativo y su aplicación para sistemas acoplados multivariables en serie. Scientific Reports , 14. https://doi.org/10.1038/s41598-024-63169-7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[7] P. Albertos and A. Sala, Multivariable Control Systems. Springer, 2004. doi: 10.1007/b97506.</a:t>
            </a:r>
          </a:p>
          <a:p>
            <a:pPr algn="just">
              <a:lnSpc>
                <a:spcPts val="1638"/>
              </a:lnSpc>
            </a:pPr>
          </a:p>
          <a:p>
            <a:pPr algn="just">
              <a:lnSpc>
                <a:spcPts val="1639"/>
              </a:lnSpc>
            </a:pPr>
            <a:r>
              <a:rPr lang="en-US" sz="1171" b="true">
                <a:solidFill>
                  <a:srgbClr val="0B1320"/>
                </a:solidFill>
                <a:latin typeface="Open Sans 1 Bold"/>
                <a:ea typeface="Open Sans 1 Bold"/>
                <a:cs typeface="Open Sans 1 Bold"/>
                <a:sym typeface="Open Sans 1 Bold"/>
              </a:rPr>
              <a:t>[8] K. H. Johansson, "The quadruple-tank process: a multivariable laboratory process with an adjustable zero," in IEEE Transactions on Control Systems Technology, vol. 8, no. 3, pp. 456-465, May 2000, doi: 10.1109/87.845876.</a:t>
            </a:r>
          </a:p>
          <a:p>
            <a:pPr algn="just">
              <a:lnSpc>
                <a:spcPts val="1638"/>
              </a:lnSpc>
            </a:pPr>
            <a:r>
              <a:rPr lang="en-US" sz="1171" b="true">
                <a:solidFill>
                  <a:srgbClr val="0B1320"/>
                </a:solidFill>
                <a:latin typeface="Open Sans 1 Bold"/>
                <a:ea typeface="Open Sans 1 Bold"/>
                <a:cs typeface="Open Sans 1 Bold"/>
                <a:sym typeface="Open Sans 1 Bold"/>
              </a:rPr>
              <a:t>keywords: {Laboratories;Control systems;Valves;Distributed control;Process control;Electrical equipment industry;Industrial control;Feedback;Linear systems;Frequency},</a:t>
            </a:r>
          </a:p>
          <a:p>
            <a:pPr algn="just">
              <a:lnSpc>
                <a:spcPts val="1639"/>
              </a:lnSpc>
            </a:pPr>
          </a:p>
          <a:p>
            <a:pPr algn="just">
              <a:lnSpc>
                <a:spcPts val="1638"/>
              </a:lnSpc>
            </a:pPr>
            <a:r>
              <a:rPr lang="en-US" sz="1171" b="true">
                <a:solidFill>
                  <a:srgbClr val="0B1320"/>
                </a:solidFill>
                <a:latin typeface="Open Sans 1 Bold"/>
                <a:ea typeface="Open Sans 1 Bold"/>
                <a:cs typeface="Open Sans 1 Bold"/>
                <a:sym typeface="Open Sans 1 Bold"/>
              </a:rPr>
              <a:t>[9] Pugliese, L., De Oliveira, T., Da Silva, D., Rodor, F., Braga, R. y Amorim, G. (2022). Modelado y desarrollo de una planta didáctica de bajo coste para la enseñanza en sistemas multivariables. Investigación, Sociedad y Desarrollo . https://doi.org/10.33448/rsd-v11i7.30249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[10] S. Yu, Y. Wang, J. Wang and H. Chen, "Constrained output feedback H∞ control of a four-tank system," 2016 IEEE International Conference on Mechatronics and Automation, Harbin, China, 2016, pp. 2048-2053, doi: 10.1109/ICMA.2016.7558881. keywords: {Output feedback;Liquids;Valves;Linear systems;PI control;PD control;Vehicle dynamics;Four-tank system;H∞ control;Output feedback;Constrained systems},</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[11] Gouta, H., Haysam Al-Ashek, W., &amp; Saad, B. (2022). Anti-disturbance composite tracking control for a coupled two-tank MIMO process with experimental studies. Automatika, 63(3), 593–604. https://doi.org/10.1080/00051144.2022.2059207</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[12] J. Tang, S. Zhao, Q. Fu, Z. Liu and W. He, "Adaptive fault-tolerant control for a three-tank system with height and rate constraints," 2021 China Automation Congress (CAC), Beijing, China, 2021, pp. 4020-4024, doi: 10.1109/CAC53003.2021.9728310. keywords: {Actuators;Fault tolerance;Liquids;Adaptive systems;Simulation;Fault tolerant systems;Neural networks;Adaptive fault-tolerant control;Barrier Lyapunov function;External disturbance;Full-state constraints},</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[13] A. Abushokor and S. M. Amrr, "Model-Free Adaptive Time-Delay-Based Estimation Control for Input-Saturated Coupled Tank System: Experimental Validation," in IEEE Transactions on Automation Science and Engineering, vol. 22, pp. 19340-19351, 2025, doi: 10.1109/TASE.2025.3594752.</a:t>
            </a:r>
          </a:p>
          <a:p>
            <a:pPr algn="just">
              <a:lnSpc>
                <a:spcPts val="1638"/>
              </a:lnSpc>
            </a:pPr>
            <a:r>
              <a:rPr lang="en-US" sz="1171" b="true">
                <a:solidFill>
                  <a:srgbClr val="0B1320"/>
                </a:solidFill>
                <a:latin typeface="Open Sans 1 Bold"/>
                <a:ea typeface="Open Sans 1 Bold"/>
                <a:cs typeface="Open Sans 1 Bold"/>
                <a:sym typeface="Open Sans 1 Bold"/>
              </a:rPr>
              <a:t>keywords: {Uncertainty;Liquids;Adaptation models;Estimation;Robust control;Upper bound;System dynamics;Regulation;Mathematical models;Industries;Time delay estimation;robust control;overestimation;Lyapunov stability},</a:t>
            </a:r>
          </a:p>
          <a:p>
            <a:pPr algn="ctr">
              <a:lnSpc>
                <a:spcPts val="1639"/>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651951" y="1403123"/>
            <a:ext cx="9344306" cy="917701"/>
          </a:xfrm>
          <a:prstGeom prst="rect">
            <a:avLst/>
          </a:prstGeom>
        </p:spPr>
        <p:txBody>
          <a:bodyPr anchor="t" rtlCol="false" tIns="0" lIns="0" bIns="0" rIns="0">
            <a:spAutoFit/>
          </a:bodyPr>
          <a:lstStyle/>
          <a:p>
            <a:pPr algn="l">
              <a:lnSpc>
                <a:spcPts val="8133"/>
              </a:lnSpc>
            </a:pPr>
            <a:r>
              <a:rPr lang="en-US" sz="8299" b="true">
                <a:solidFill>
                  <a:srgbClr val="0B1320"/>
                </a:solidFill>
                <a:latin typeface="League Spartan"/>
                <a:ea typeface="League Spartan"/>
                <a:cs typeface="League Spartan"/>
                <a:sym typeface="League Spartan"/>
              </a:rPr>
              <a:t>Bibliografía</a:t>
            </a:r>
          </a:p>
        </p:txBody>
      </p:sp>
      <p:sp>
        <p:nvSpPr>
          <p:cNvPr name="Freeform 3" id="3"/>
          <p:cNvSpPr/>
          <p:nvPr/>
        </p:nvSpPr>
        <p:spPr>
          <a:xfrm flipH="false" flipV="false" rot="0">
            <a:off x="14779380" y="-1766623"/>
            <a:ext cx="7771510" cy="11016700"/>
          </a:xfrm>
          <a:custGeom>
            <a:avLst/>
            <a:gdLst/>
            <a:ahLst/>
            <a:cxnLst/>
            <a:rect r="r" b="b" t="t" l="l"/>
            <a:pathLst>
              <a:path h="11016700" w="7771510">
                <a:moveTo>
                  <a:pt x="0" y="0"/>
                </a:moveTo>
                <a:lnTo>
                  <a:pt x="7771509" y="0"/>
                </a:lnTo>
                <a:lnTo>
                  <a:pt x="7771509" y="11016700"/>
                </a:lnTo>
                <a:lnTo>
                  <a:pt x="0" y="110167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32340" y="-5443226"/>
            <a:ext cx="9868557" cy="9068286"/>
          </a:xfrm>
          <a:custGeom>
            <a:avLst/>
            <a:gdLst/>
            <a:ahLst/>
            <a:cxnLst/>
            <a:rect r="r" b="b" t="t" l="l"/>
            <a:pathLst>
              <a:path h="9068286" w="9868557">
                <a:moveTo>
                  <a:pt x="0" y="0"/>
                </a:moveTo>
                <a:lnTo>
                  <a:pt x="9868556" y="0"/>
                </a:lnTo>
                <a:lnTo>
                  <a:pt x="9868556" y="9068286"/>
                </a:lnTo>
                <a:lnTo>
                  <a:pt x="0" y="90682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2880474">
            <a:off x="14835246" y="-2845768"/>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6">
              <a:alphaModFix amt="64000"/>
              <a:extLst>
                <a:ext uri="{96DAC541-7B7A-43D3-8B79-37D633B846F1}">
                  <asvg:svgBlip xmlns:asvg="http://schemas.microsoft.com/office/drawing/2016/SVG/main" r:embed="rId7"/>
                </a:ext>
              </a:extLst>
            </a:blip>
            <a:stretch>
              <a:fillRect l="-30990" t="0" r="-30990" b="0"/>
            </a:stretch>
          </a:blipFill>
        </p:spPr>
      </p:sp>
      <p:sp>
        <p:nvSpPr>
          <p:cNvPr name="TextBox 6" id="6"/>
          <p:cNvSpPr txBox="true"/>
          <p:nvPr/>
        </p:nvSpPr>
        <p:spPr>
          <a:xfrm rot="0">
            <a:off x="651951" y="2859883"/>
            <a:ext cx="16607349" cy="6790244"/>
          </a:xfrm>
          <a:prstGeom prst="rect">
            <a:avLst/>
          </a:prstGeom>
        </p:spPr>
        <p:txBody>
          <a:bodyPr anchor="t" rtlCol="false" tIns="0" lIns="0" bIns="0" rIns="0">
            <a:spAutoFit/>
          </a:bodyPr>
          <a:lstStyle/>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[14] H. G. Santana, S. d. S. Coelho and O. d. M. Almeida, "Application of Multivariable PID Controllers in a Coupled Tank System," 2018 13th IEEE International Conference on Industry Applications (INDUSCON), Sao Paulo, Brazil, 2018, pp. 664-671, doi: 10.1109/INDUSCON.2018.8627072. keywords: {Conferences;Industry applications;PID control;level control;multivariable systems;decoupling;coupled devices.},</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[15] Cartes, D., y Wu, L. (2005). Evaluación experimental del control de nivel adaptativo de tres tanques. ISA transactions , 44 2, 283-93. https://doi.org/10.1016/S0019-0578(07)60181-5 .</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[16] P. K. Choudhary, P. Raj and D. K. Das, "Controller Design for Decoupled Two-Input Two-Output Coupled Tank System," 2024 IEEE International Conference on Smart Power Control and Renewable Energy (ICSPCRE), Rourkela, India, 2024, pp. 1-6, doi: 10.1109/ICSPCRE62303.2024.10675217. keywords: {Renewable energy sources;PI control;Liquids;Simulation;Transfer functions;Process control;SISO communication},</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[17] R. J. Albin Raj and S. N. Deepa, "Modeling and implementation of various controllers used for Quadruple-Tank," 2016 International Conference on Circuit, Power and Computing Technologies (ICCPCT), Nagercoil, India, 2016, pp. 1-5, doi: 10.1109/ICCPCT.2016.7530245. keywords: {Process control;Mathematical model;Control systems;Computational modeling;Pragmatics;Computers;Integrated circuit modeling;Quadruple-Tank System;PID;FUZZY-PID},</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[18] M. S. Ramli, M. A. Ahmad and R. M. T. R. Ismail, "Comparison of Swarm Adaptive Neural Network Control of a Coupled Tank Liquid Level System," 2009 International Conference on Computer Technology and Development, Kota Kinabalu, Malaysia, 2009, pp. 130-135, doi: 10.1109/ICCTD.2009.124. keywords: {Adaptive systems;Programmable control;Adaptive control;Neural networks;Control systems;Performance evaluation;Three-term control;Particle swarm optimization;Analytical models;Time domain analysis;NN;PSO;level control;water tank},</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[19] E. F. Camacho, C. Bordons, Model Predictive Control, 2nd ed. London, U.K.: Springer, 2007.</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[20] M. Grebeck, “A Comparison of controllers for the quadruple tank system,” Technical report, Department of Automatic control, Lund Institute of Technology, Lund, Sweden, 1998.</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[21] S. B. Prusty, U. C. Pati, and K. K. Mahapatra, “Model Based Predictive Control of the Four Tank System,” in Advances in System Optimization and Control (Lecture Notes in Electrical Engineering, vol. 509), S. N. Singh, F. Wen, and M. Jain, Eds. Singapore: Springer, 2018, pp. 249–260. doi: 10.1007/978-981-13-1857-2_22.</a:t>
            </a:r>
          </a:p>
          <a:p>
            <a:pPr algn="just">
              <a:lnSpc>
                <a:spcPts val="1639"/>
              </a:lnSpc>
            </a:pPr>
          </a:p>
          <a:p>
            <a:pPr algn="just">
              <a:lnSpc>
                <a:spcPts val="1638"/>
              </a:lnSpc>
            </a:pPr>
            <a:r>
              <a:rPr lang="en-US" sz="1171" b="true">
                <a:solidFill>
                  <a:srgbClr val="0B1320"/>
                </a:solidFill>
                <a:latin typeface="Open Sans 1 Bold"/>
                <a:ea typeface="Open Sans 1 Bold"/>
                <a:cs typeface="Open Sans 1 Bold"/>
                <a:sym typeface="Open Sans 1 Bold"/>
              </a:rPr>
              <a:t>[22] S. Gehlaut, T. Varshney and S. Gupta, "Performance Analysis of MPC for Level Control of Modified Quadruple Tank System," 2018 2nd International Conference on Power, Energy and Environment: Towards Smart Technology (ICEPE), Shillong, India, 2018, pp. 1-6, doi: 10.1109/EPETSG.2018.8659317. keywords: {MIMO communication;Predictive models;Cost function;Process control;Control systems;Linear programming;MPC;Modified Quadruple Tank System;MIMO},</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[23] D.W. Clarke. Application of Generalized Predictive Control to Industrial Pro cesses. IEEE Control Systems Magazine, 122:49–55, 1988.</a:t>
            </a:r>
          </a:p>
          <a:p>
            <a:pPr algn="just">
              <a:lnSpc>
                <a:spcPts val="1638"/>
              </a:lnSpc>
            </a:pPr>
          </a:p>
          <a:p>
            <a:pPr algn="just">
              <a:lnSpc>
                <a:spcPts val="1638"/>
              </a:lnSpc>
            </a:pPr>
            <a:r>
              <a:rPr lang="en-US" sz="1171" b="true">
                <a:solidFill>
                  <a:srgbClr val="0B1320"/>
                </a:solidFill>
                <a:latin typeface="Open Sans 1 Bold"/>
                <a:ea typeface="Open Sans 1 Bold"/>
                <a:cs typeface="Open Sans 1 Bold"/>
                <a:sym typeface="Open Sans 1 Bold"/>
              </a:rPr>
              <a:t>[24] Cheng, Y. (2007). Predicción de j pasos adelante basada en el modelo CARMA para sistemas MIMO. Frontiers of Electrical and Electronic Engineering in China , 2, 99-103. https://doi.org/10.1007/s11460-007-0018-7 .</a:t>
            </a:r>
          </a:p>
          <a:p>
            <a:pPr algn="just">
              <a:lnSpc>
                <a:spcPts val="1638"/>
              </a:lnSpc>
            </a:pPr>
          </a:p>
          <a:p>
            <a:pPr algn="just">
              <a:lnSpc>
                <a:spcPts val="1638"/>
              </a:lnSpc>
            </a:pPr>
          </a:p>
          <a:p>
            <a:pPr algn="ctr">
              <a:lnSpc>
                <a:spcPts val="1639"/>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false" flipV="true" rot="5400000">
            <a:off x="8996924" y="-921161"/>
            <a:ext cx="11205779" cy="10911627"/>
          </a:xfrm>
          <a:custGeom>
            <a:avLst/>
            <a:gdLst/>
            <a:ahLst/>
            <a:cxnLst/>
            <a:rect r="r" b="b" t="t" l="l"/>
            <a:pathLst>
              <a:path h="10911627" w="11205779">
                <a:moveTo>
                  <a:pt x="0" y="10911627"/>
                </a:moveTo>
                <a:lnTo>
                  <a:pt x="11205779" y="10911627"/>
                </a:lnTo>
                <a:lnTo>
                  <a:pt x="11205779" y="0"/>
                </a:lnTo>
                <a:lnTo>
                  <a:pt x="0" y="0"/>
                </a:lnTo>
                <a:lnTo>
                  <a:pt x="0" y="10911627"/>
                </a:lnTo>
                <a:close/>
              </a:path>
            </a:pathLst>
          </a:custGeom>
          <a:blipFill>
            <a:blip r:embed="rId2">
              <a:alphaModFix amt="69000"/>
              <a:extLst>
                <a:ext uri="{96DAC541-7B7A-43D3-8B79-37D633B846F1}">
                  <asvg:svgBlip xmlns:asvg="http://schemas.microsoft.com/office/drawing/2016/SVG/main" r:embed="rId3"/>
                </a:ext>
              </a:extLst>
            </a:blip>
            <a:stretch>
              <a:fillRect l="-4" t="0" r="-4" b="0"/>
            </a:stretch>
          </a:blipFill>
        </p:spPr>
      </p:sp>
      <p:sp>
        <p:nvSpPr>
          <p:cNvPr name="Freeform 3" id="3"/>
          <p:cNvSpPr/>
          <p:nvPr/>
        </p:nvSpPr>
        <p:spPr>
          <a:xfrm flipH="false" flipV="false" rot="0">
            <a:off x="-7502851" y="-3135891"/>
            <a:ext cx="16646854" cy="20985900"/>
          </a:xfrm>
          <a:custGeom>
            <a:avLst/>
            <a:gdLst/>
            <a:ahLst/>
            <a:cxnLst/>
            <a:rect r="r" b="b" t="t" l="l"/>
            <a:pathLst>
              <a:path h="20985900" w="16646854">
                <a:moveTo>
                  <a:pt x="0" y="0"/>
                </a:moveTo>
                <a:lnTo>
                  <a:pt x="16646854" y="0"/>
                </a:lnTo>
                <a:lnTo>
                  <a:pt x="16646854" y="20985900"/>
                </a:lnTo>
                <a:lnTo>
                  <a:pt x="0" y="20985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841371" y="8635339"/>
            <a:ext cx="12248483" cy="4038085"/>
          </a:xfrm>
          <a:custGeom>
            <a:avLst/>
            <a:gdLst/>
            <a:ahLst/>
            <a:cxnLst/>
            <a:rect r="r" b="b" t="t" l="l"/>
            <a:pathLst>
              <a:path h="4038085" w="12248483">
                <a:moveTo>
                  <a:pt x="0" y="0"/>
                </a:moveTo>
                <a:lnTo>
                  <a:pt x="12248483" y="0"/>
                </a:lnTo>
                <a:lnTo>
                  <a:pt x="12248483" y="4038085"/>
                </a:lnTo>
                <a:lnTo>
                  <a:pt x="0" y="4038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5289240">
            <a:off x="-1352275" y="86666"/>
            <a:ext cx="6656198" cy="5258396"/>
          </a:xfrm>
          <a:custGeom>
            <a:avLst/>
            <a:gdLst/>
            <a:ahLst/>
            <a:cxnLst/>
            <a:rect r="r" b="b" t="t" l="l"/>
            <a:pathLst>
              <a:path h="5258396" w="6656198">
                <a:moveTo>
                  <a:pt x="6656198" y="0"/>
                </a:moveTo>
                <a:lnTo>
                  <a:pt x="0" y="0"/>
                </a:lnTo>
                <a:lnTo>
                  <a:pt x="0" y="5258396"/>
                </a:lnTo>
                <a:lnTo>
                  <a:pt x="6656198" y="5258396"/>
                </a:lnTo>
                <a:lnTo>
                  <a:pt x="6656198" y="0"/>
                </a:lnTo>
                <a:close/>
              </a:path>
            </a:pathLst>
          </a:custGeom>
          <a:blipFill>
            <a:blip r:embed="rId8">
              <a:alphaModFix amt="35000"/>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4520399" y="2372325"/>
            <a:ext cx="9920526" cy="4527249"/>
          </a:xfrm>
          <a:prstGeom prst="rect">
            <a:avLst/>
          </a:prstGeom>
        </p:spPr>
        <p:txBody>
          <a:bodyPr anchor="t" rtlCol="false" tIns="0" lIns="0" bIns="0" rIns="0">
            <a:spAutoFit/>
          </a:bodyPr>
          <a:lstStyle/>
          <a:p>
            <a:pPr algn="ctr">
              <a:lnSpc>
                <a:spcPts val="17102"/>
              </a:lnSpc>
            </a:pPr>
            <a:r>
              <a:rPr lang="en-US" sz="12216" b="true">
                <a:solidFill>
                  <a:srgbClr val="0B1320"/>
                </a:solidFill>
                <a:latin typeface="League Spartan"/>
                <a:ea typeface="League Spartan"/>
                <a:cs typeface="League Spartan"/>
                <a:sym typeface="League Spartan"/>
              </a:rPr>
              <a:t>MUCHAS GRACIAS</a:t>
            </a:r>
          </a:p>
        </p:txBody>
      </p:sp>
      <p:grpSp>
        <p:nvGrpSpPr>
          <p:cNvPr name="Group 7" id="7"/>
          <p:cNvGrpSpPr/>
          <p:nvPr/>
        </p:nvGrpSpPr>
        <p:grpSpPr>
          <a:xfrm rot="0">
            <a:off x="2470475" y="8099137"/>
            <a:ext cx="4696552" cy="3440092"/>
            <a:chOff x="0" y="0"/>
            <a:chExt cx="6262069" cy="4586789"/>
          </a:xfrm>
        </p:grpSpPr>
        <p:sp>
          <p:nvSpPr>
            <p:cNvPr name="Freeform 8" id="8"/>
            <p:cNvSpPr/>
            <p:nvPr/>
          </p:nvSpPr>
          <p:spPr>
            <a:xfrm flipH="false" flipV="false" rot="0">
              <a:off x="10414" y="4826"/>
              <a:ext cx="6241288" cy="4577080"/>
            </a:xfrm>
            <a:custGeom>
              <a:avLst/>
              <a:gdLst/>
              <a:ahLst/>
              <a:cxnLst/>
              <a:rect r="r" b="b" t="t" l="l"/>
              <a:pathLst>
                <a:path h="4577080" w="6241288">
                  <a:moveTo>
                    <a:pt x="0" y="4536059"/>
                  </a:moveTo>
                  <a:lnTo>
                    <a:pt x="6211316" y="0"/>
                  </a:lnTo>
                  <a:lnTo>
                    <a:pt x="6241288" y="41021"/>
                  </a:lnTo>
                  <a:lnTo>
                    <a:pt x="29972" y="4577080"/>
                  </a:lnTo>
                  <a:close/>
                </a:path>
              </a:pathLst>
            </a:custGeom>
            <a:solidFill>
              <a:srgbClr val="F3F6FA"/>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DAG53DREY-Y</dc:identifier>
  <dcterms:modified xsi:type="dcterms:W3CDTF">2011-08-01T06:04:30Z</dcterms:modified>
  <cp:revision>1</cp:revision>
  <dc:title>Cap2_EdwinDavila (2).pptx</dc:title>
</cp:coreProperties>
</file>